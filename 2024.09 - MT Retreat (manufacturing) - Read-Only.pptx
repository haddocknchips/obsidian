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4"/>
    <p:sldMasterId id="2147483699" r:id="rId5"/>
  </p:sldMasterIdLst>
  <p:notesMasterIdLst>
    <p:notesMasterId r:id="rId17"/>
  </p:notesMasterIdLst>
  <p:sldIdLst>
    <p:sldId id="2000" r:id="rId6"/>
    <p:sldId id="339" r:id="rId7"/>
    <p:sldId id="2147469125" r:id="rId8"/>
    <p:sldId id="2147469122" r:id="rId9"/>
    <p:sldId id="2147469118" r:id="rId10"/>
    <p:sldId id="2147469119" r:id="rId11"/>
    <p:sldId id="2147469123" r:id="rId12"/>
    <p:sldId id="2147469120" r:id="rId13"/>
    <p:sldId id="2147469121" r:id="rId14"/>
    <p:sldId id="2147469124" r:id="rId15"/>
    <p:sldId id="293"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105" roundtripDataSignature="AMtx7mj+oEt791oKdiUI4tH7BHNAgyDlA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E6420A-3AAF-ED07-5440-F50999574BEC}" name="Yann Ferrisse" initials="YF" userId="S::yferrisse@gardp.org::e8e4659c-6dda-477e-a516-8174e7fb9ce8" providerId="AD"/>
  <p188:author id="{638AC911-1550-C54E-E279-F6E2FEE071E1}" name="Jaime Escrina" initials="JE" userId="S::jescrina@gardp.org::f161642d-b65b-41ad-9057-e669737aee63" providerId="AD"/>
  <p188:author id="{B6121B30-3FB0-DEE4-33C5-48263225E527}" name="Meret Lendenmann" initials="ML" userId="S::mlendenmann@gardp.org::a494765e-c8a5-4a58-80b5-e5d3a8f00560" providerId="AD"/>
  <p188:author id="{F462D6D2-CDA6-D69B-2B07-66CB73C3A683}" name="Jennifer Cohn" initials="JC" userId="S::jcohn@gardp.org::f6226e3a-e5a5-4b7a-b7d1-53c026d7ea5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eamus O’Brien" initials="SO" lastIdx="5" clrIdx="0">
    <p:extLst>
      <p:ext uri="{19B8F6BF-5375-455C-9EA6-DF929625EA0E}">
        <p15:presenceInfo xmlns:p15="http://schemas.microsoft.com/office/powerpoint/2012/main" userId="S::sobrien@gardp.org::a6e467b0-c1e0-43f9-be1c-e1d06afde2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B1E2F"/>
    <a:srgbClr val="19A1AC"/>
    <a:srgbClr val="0B6377"/>
    <a:srgbClr val="0D1F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13"/>
    <p:restoredTop sz="92762" autoAdjust="0"/>
  </p:normalViewPr>
  <p:slideViewPr>
    <p:cSldViewPr snapToGrid="0">
      <p:cViewPr varScale="1">
        <p:scale>
          <a:sx n="146" d="100"/>
          <a:sy n="146" d="100"/>
        </p:scale>
        <p:origin x="22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09"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10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107" Type="http://schemas.openxmlformats.org/officeDocument/2006/relationships/presProps" Target="presProps.xml"/><Relationship Id="rId11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11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106" Type="http://schemas.openxmlformats.org/officeDocument/2006/relationships/commentAuthors" Target="commentAuthor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10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063156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03356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7163" y="509588"/>
            <a:ext cx="4533900" cy="254952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405526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7163" y="509588"/>
            <a:ext cx="4533900" cy="254952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2200013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7163" y="509588"/>
            <a:ext cx="4533900" cy="254952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1275004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7163" y="509588"/>
            <a:ext cx="4533900" cy="254952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870807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7163" y="509588"/>
            <a:ext cx="4533900" cy="254952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27586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7163" y="509588"/>
            <a:ext cx="4533900" cy="254952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41823167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7163" y="509588"/>
            <a:ext cx="4533900" cy="254952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42489393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28.jpeg"/><Relationship Id="rId13" Type="http://schemas.openxmlformats.org/officeDocument/2006/relationships/image" Target="../media/image33.jpeg"/><Relationship Id="rId18" Type="http://schemas.openxmlformats.org/officeDocument/2006/relationships/image" Target="../media/image38.gif"/><Relationship Id="rId3" Type="http://schemas.openxmlformats.org/officeDocument/2006/relationships/image" Target="../media/image23.jpeg"/><Relationship Id="rId7" Type="http://schemas.openxmlformats.org/officeDocument/2006/relationships/image" Target="../media/image27.png"/><Relationship Id="rId12" Type="http://schemas.openxmlformats.org/officeDocument/2006/relationships/image" Target="../media/image32.jpeg"/><Relationship Id="rId17" Type="http://schemas.openxmlformats.org/officeDocument/2006/relationships/image" Target="../media/image37.png"/><Relationship Id="rId2" Type="http://schemas.openxmlformats.org/officeDocument/2006/relationships/image" Target="../media/image22.jpeg"/><Relationship Id="rId16" Type="http://schemas.openxmlformats.org/officeDocument/2006/relationships/image" Target="../media/image36.jpeg"/><Relationship Id="rId1" Type="http://schemas.openxmlformats.org/officeDocument/2006/relationships/slideMaster" Target="../slideMasters/slideMaster2.xml"/><Relationship Id="rId6" Type="http://schemas.openxmlformats.org/officeDocument/2006/relationships/image" Target="../media/image26.jpeg"/><Relationship Id="rId11" Type="http://schemas.openxmlformats.org/officeDocument/2006/relationships/image" Target="../media/image31.jpeg"/><Relationship Id="rId5" Type="http://schemas.openxmlformats.org/officeDocument/2006/relationships/image" Target="../media/image25.jpeg"/><Relationship Id="rId15" Type="http://schemas.openxmlformats.org/officeDocument/2006/relationships/image" Target="../media/image35.jpeg"/><Relationship Id="rId10" Type="http://schemas.openxmlformats.org/officeDocument/2006/relationships/image" Target="../media/image30.jpeg"/><Relationship Id="rId4" Type="http://schemas.openxmlformats.org/officeDocument/2006/relationships/image" Target="../media/image24.jpeg"/><Relationship Id="rId9" Type="http://schemas.openxmlformats.org/officeDocument/2006/relationships/image" Target="../media/image29.jpeg"/><Relationship Id="rId14" Type="http://schemas.openxmlformats.org/officeDocument/2006/relationships/image" Target="../media/image34.jpe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sposition personnalisée">
  <p:cSld name="Content 1">
    <p:spTree>
      <p:nvGrpSpPr>
        <p:cNvPr id="1" name="Shape 45"/>
        <p:cNvGrpSpPr/>
        <p:nvPr/>
      </p:nvGrpSpPr>
      <p:grpSpPr>
        <a:xfrm>
          <a:off x="0" y="0"/>
          <a:ext cx="0" cy="0"/>
          <a:chOff x="0" y="0"/>
          <a:chExt cx="0" cy="0"/>
        </a:xfrm>
      </p:grpSpPr>
      <p:pic>
        <p:nvPicPr>
          <p:cNvPr id="9" name="Image 8">
            <a:extLst>
              <a:ext uri="{FF2B5EF4-FFF2-40B4-BE49-F238E27FC236}">
                <a16:creationId xmlns:a16="http://schemas.microsoft.com/office/drawing/2014/main" id="{2F4D7B01-A345-5244-BE91-BBB3886A1EA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71315" t="3590" r="1378" b="42281"/>
          <a:stretch/>
        </p:blipFill>
        <p:spPr>
          <a:xfrm rot="16200000">
            <a:off x="9187296" y="3853293"/>
            <a:ext cx="2595279" cy="3439886"/>
          </a:xfrm>
          <a:prstGeom prst="rect">
            <a:avLst/>
          </a:prstGeom>
        </p:spPr>
      </p:pic>
      <p:sp>
        <p:nvSpPr>
          <p:cNvPr id="46" name="Google Shape;46;p13"/>
          <p:cNvSpPr txBox="1">
            <a:spLocks noGrp="1"/>
          </p:cNvSpPr>
          <p:nvPr>
            <p:ph type="title"/>
          </p:nvPr>
        </p:nvSpPr>
        <p:spPr>
          <a:xfrm>
            <a:off x="495299" y="536577"/>
            <a:ext cx="1120616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D202F"/>
              </a:buClr>
              <a:buSzPts val="3500"/>
              <a:buFont typeface="Arial"/>
              <a:buNone/>
              <a:defRPr sz="3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48" name="Google Shape;48;p13"/>
          <p:cNvPicPr preferRelativeResize="0"/>
          <p:nvPr/>
        </p:nvPicPr>
        <p:blipFill rotWithShape="1">
          <a:blip r:embed="rId3" cstate="screen">
            <a:alphaModFix/>
            <a:extLst>
              <a:ext uri="{28A0092B-C50C-407E-A947-70E740481C1C}">
                <a14:useLocalDpi xmlns:a14="http://schemas.microsoft.com/office/drawing/2010/main"/>
              </a:ext>
            </a:extLst>
          </a:blip>
          <a:srcRect r="59225" b="30648"/>
          <a:stretch/>
        </p:blipFill>
        <p:spPr>
          <a:xfrm>
            <a:off x="11131153" y="5031782"/>
            <a:ext cx="1073726" cy="1826218"/>
          </a:xfrm>
          <a:prstGeom prst="rect">
            <a:avLst/>
          </a:prstGeom>
          <a:noFill/>
          <a:ln>
            <a:noFill/>
          </a:ln>
        </p:spPr>
      </p:pic>
      <p:pic>
        <p:nvPicPr>
          <p:cNvPr id="49" name="Google Shape;49;p13"/>
          <p:cNvPicPr preferRelativeResize="0"/>
          <p:nvPr/>
        </p:nvPicPr>
        <p:blipFill rotWithShape="1">
          <a:blip r:embed="rId4" cstate="screen">
            <a:alphaModFix/>
            <a:extLst>
              <a:ext uri="{28A0092B-C50C-407E-A947-70E740481C1C}">
                <a14:useLocalDpi xmlns:a14="http://schemas.microsoft.com/office/drawing/2010/main"/>
              </a:ext>
            </a:extLst>
          </a:blip>
          <a:srcRect b="36527"/>
          <a:stretch/>
        </p:blipFill>
        <p:spPr>
          <a:xfrm>
            <a:off x="10878343" y="6348415"/>
            <a:ext cx="823119" cy="522461"/>
          </a:xfrm>
          <a:prstGeom prst="rect">
            <a:avLst/>
          </a:prstGeom>
          <a:noFill/>
          <a:ln>
            <a:noFill/>
          </a:ln>
        </p:spPr>
      </p:pic>
      <p:sp>
        <p:nvSpPr>
          <p:cNvPr id="50" name="Google Shape;50;p13"/>
          <p:cNvSpPr txBox="1">
            <a:spLocks noGrp="1"/>
          </p:cNvSpPr>
          <p:nvPr>
            <p:ph type="body" idx="1"/>
          </p:nvPr>
        </p:nvSpPr>
        <p:spPr>
          <a:xfrm>
            <a:off x="495299" y="2038601"/>
            <a:ext cx="11206162" cy="418623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8A1AB"/>
              </a:buClr>
              <a:buSzPts val="24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Diapositive de titre" preserve="1">
  <p:cSld name="4_Diapositive de titre">
    <p:bg>
      <p:bgPr>
        <a:blipFill dpi="0" rotWithShape="1">
          <a:blip r:embed="rId2">
            <a:lum/>
          </a:blip>
          <a:srcRect/>
          <a:stretch>
            <a:fillRect t="-17000" b="-17000"/>
          </a:stretch>
        </a:blipFill>
        <a:effectLst/>
      </p:bgPr>
    </p:bg>
    <p:spTree>
      <p:nvGrpSpPr>
        <p:cNvPr id="1" name="Shape 95"/>
        <p:cNvGrpSpPr/>
        <p:nvPr/>
      </p:nvGrpSpPr>
      <p:grpSpPr>
        <a:xfrm>
          <a:off x="0" y="0"/>
          <a:ext cx="0" cy="0"/>
          <a:chOff x="0" y="0"/>
          <a:chExt cx="0" cy="0"/>
        </a:xfrm>
      </p:grpSpPr>
      <p:sp>
        <p:nvSpPr>
          <p:cNvPr id="96" name="Google Shape;96;p32"/>
          <p:cNvSpPr/>
          <p:nvPr/>
        </p:nvSpPr>
        <p:spPr>
          <a:xfrm>
            <a:off x="0" y="0"/>
            <a:ext cx="12192000" cy="6858000"/>
          </a:xfrm>
          <a:prstGeom prst="rect">
            <a:avLst/>
          </a:prstGeom>
          <a:solidFill>
            <a:srgbClr val="0D1F2F">
              <a:alpha val="30000"/>
            </a:srgbClr>
          </a:solidFill>
          <a:ln w="25400" cap="flat" cmpd="sng">
            <a:solidFill>
              <a:srgbClr val="000000">
                <a:alpha val="2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7" name="Google Shape;97;p32"/>
          <p:cNvSpPr txBox="1">
            <a:spLocks noGrp="1"/>
          </p:cNvSpPr>
          <p:nvPr>
            <p:ph type="ctrTitle"/>
          </p:nvPr>
        </p:nvSpPr>
        <p:spPr>
          <a:xfrm>
            <a:off x="1524000" y="1443037"/>
            <a:ext cx="9144000" cy="241458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6000"/>
              <a:buFont typeface="Arial"/>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32"/>
          <p:cNvSpPr txBox="1">
            <a:spLocks noGrp="1"/>
          </p:cNvSpPr>
          <p:nvPr>
            <p:ph type="subTitle" idx="1"/>
          </p:nvPr>
        </p:nvSpPr>
        <p:spPr>
          <a:xfrm>
            <a:off x="1524000" y="4386262"/>
            <a:ext cx="9144000" cy="87153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99" name="Google Shape;99;p32"/>
          <p:cNvPicPr preferRelativeResize="0"/>
          <p:nvPr/>
        </p:nvPicPr>
        <p:blipFill rotWithShape="1">
          <a:blip r:embed="rId3" cstate="screen">
            <a:alphaModFix amt="80000"/>
            <a:extLst>
              <a:ext uri="{28A0092B-C50C-407E-A947-70E740481C1C}">
                <a14:useLocalDpi xmlns:a14="http://schemas.microsoft.com/office/drawing/2010/main"/>
              </a:ext>
            </a:extLst>
          </a:blip>
          <a:srcRect/>
          <a:stretch/>
        </p:blipFill>
        <p:spPr>
          <a:xfrm rot="10438165">
            <a:off x="-1061411" y="-1049401"/>
            <a:ext cx="2968630" cy="2968630"/>
          </a:xfrm>
          <a:prstGeom prst="rect">
            <a:avLst/>
          </a:prstGeom>
          <a:noFill/>
          <a:ln>
            <a:noFill/>
          </a:ln>
        </p:spPr>
      </p:pic>
      <p:pic>
        <p:nvPicPr>
          <p:cNvPr id="100" name="Google Shape;100;p32"/>
          <p:cNvPicPr preferRelativeResize="0"/>
          <p:nvPr/>
        </p:nvPicPr>
        <p:blipFill rotWithShape="1">
          <a:blip r:embed="rId4" cstate="screen">
            <a:alphaModFix amt="85000"/>
            <a:extLst>
              <a:ext uri="{28A0092B-C50C-407E-A947-70E740481C1C}">
                <a14:useLocalDpi xmlns:a14="http://schemas.microsoft.com/office/drawing/2010/main"/>
              </a:ext>
            </a:extLst>
          </a:blip>
          <a:srcRect/>
          <a:stretch/>
        </p:blipFill>
        <p:spPr>
          <a:xfrm>
            <a:off x="11015600" y="5757409"/>
            <a:ext cx="1302491" cy="1311729"/>
          </a:xfrm>
          <a:prstGeom prst="rect">
            <a:avLst/>
          </a:prstGeom>
          <a:noFill/>
          <a:ln>
            <a:noFill/>
          </a:ln>
        </p:spPr>
      </p:pic>
    </p:spTree>
    <p:extLst>
      <p:ext uri="{BB962C8B-B14F-4D97-AF65-F5344CB8AC3E}">
        <p14:creationId xmlns:p14="http://schemas.microsoft.com/office/powerpoint/2010/main" val="1055306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Diapositive de titre">
  <p:cSld name="Ch. 4">
    <p:spTree>
      <p:nvGrpSpPr>
        <p:cNvPr id="1" name="Shape 101"/>
        <p:cNvGrpSpPr/>
        <p:nvPr/>
      </p:nvGrpSpPr>
      <p:grpSpPr>
        <a:xfrm>
          <a:off x="0" y="0"/>
          <a:ext cx="0" cy="0"/>
          <a:chOff x="0" y="0"/>
          <a:chExt cx="0" cy="0"/>
        </a:xfrm>
      </p:grpSpPr>
      <p:pic>
        <p:nvPicPr>
          <p:cNvPr id="102" name="Google Shape;102;p21"/>
          <p:cNvPicPr preferRelativeResize="0"/>
          <p:nvPr/>
        </p:nvPicPr>
        <p:blipFill rotWithShape="1">
          <a:blip r:embed="rId2" cstate="screen">
            <a:extLst>
              <a:ext uri="{28A0092B-C50C-407E-A947-70E740481C1C}">
                <a14:useLocalDpi xmlns:a14="http://schemas.microsoft.com/office/drawing/2010/main"/>
              </a:ext>
            </a:extLst>
          </a:blip>
          <a:srcRect r="55715" b="17185"/>
          <a:stretch/>
        </p:blipFill>
        <p:spPr>
          <a:xfrm rot="10800000">
            <a:off x="-1" y="-1"/>
            <a:ext cx="2062824" cy="3857624"/>
          </a:xfrm>
          <a:prstGeom prst="rect">
            <a:avLst/>
          </a:prstGeom>
          <a:noFill/>
          <a:ln>
            <a:noFill/>
          </a:ln>
        </p:spPr>
      </p:pic>
      <p:pic>
        <p:nvPicPr>
          <p:cNvPr id="103" name="Google Shape;103;p21"/>
          <p:cNvPicPr preferRelativeResize="0"/>
          <p:nvPr/>
        </p:nvPicPr>
        <p:blipFill rotWithShape="1">
          <a:blip r:embed="rId3" cstate="screen">
            <a:extLst>
              <a:ext uri="{28A0092B-C50C-407E-A947-70E740481C1C}">
                <a14:useLocalDpi xmlns:a14="http://schemas.microsoft.com/office/drawing/2010/main"/>
              </a:ext>
            </a:extLst>
          </a:blip>
          <a:srcRect r="22536" b="24356"/>
          <a:stretch/>
        </p:blipFill>
        <p:spPr>
          <a:xfrm>
            <a:off x="7883127" y="2650329"/>
            <a:ext cx="4308874" cy="4207671"/>
          </a:xfrm>
          <a:prstGeom prst="rect">
            <a:avLst/>
          </a:prstGeom>
          <a:noFill/>
          <a:ln>
            <a:noFill/>
          </a:ln>
        </p:spPr>
      </p:pic>
      <p:sp>
        <p:nvSpPr>
          <p:cNvPr id="104" name="Google Shape;104;p21"/>
          <p:cNvSpPr txBox="1">
            <a:spLocks noGrp="1"/>
          </p:cNvSpPr>
          <p:nvPr>
            <p:ph type="ctrTitle"/>
          </p:nvPr>
        </p:nvSpPr>
        <p:spPr>
          <a:xfrm>
            <a:off x="1524000" y="1443037"/>
            <a:ext cx="9144000" cy="241458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D202F"/>
              </a:buClr>
              <a:buSzPts val="6000"/>
              <a:buFont typeface="Arial"/>
              <a:buNone/>
              <a:defRPr sz="6000">
                <a:solidFill>
                  <a:srgbClr val="0D202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21"/>
          <p:cNvSpPr txBox="1">
            <a:spLocks noGrp="1"/>
          </p:cNvSpPr>
          <p:nvPr>
            <p:ph type="subTitle" idx="1"/>
          </p:nvPr>
        </p:nvSpPr>
        <p:spPr>
          <a:xfrm>
            <a:off x="1524000" y="4386262"/>
            <a:ext cx="9144000" cy="87153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0D202F"/>
              </a:buClr>
              <a:buSzPts val="2400"/>
              <a:buNone/>
              <a:defRPr sz="2400" b="0" i="0">
                <a:solidFill>
                  <a:srgbClr val="0D202F"/>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06" name="Google Shape;106;p21"/>
          <p:cNvPicPr preferRelativeResize="0"/>
          <p:nvPr/>
        </p:nvPicPr>
        <p:blipFill rotWithShape="1">
          <a:blip r:embed="rId4" cstate="screen">
            <a:alphaModFix/>
            <a:extLst>
              <a:ext uri="{28A0092B-C50C-407E-A947-70E740481C1C}">
                <a14:useLocalDpi xmlns:a14="http://schemas.microsoft.com/office/drawing/2010/main"/>
              </a:ext>
            </a:extLst>
          </a:blip>
          <a:srcRect l="70955" t="15531"/>
          <a:stretch/>
        </p:blipFill>
        <p:spPr>
          <a:xfrm>
            <a:off x="-2" y="0"/>
            <a:ext cx="645280" cy="1876592"/>
          </a:xfrm>
          <a:prstGeom prst="rect">
            <a:avLst/>
          </a:prstGeom>
          <a:noFill/>
          <a:ln>
            <a:noFill/>
          </a:ln>
        </p:spPr>
      </p:pic>
      <p:pic>
        <p:nvPicPr>
          <p:cNvPr id="107" name="Google Shape;107;p21"/>
          <p:cNvPicPr preferRelativeResize="0"/>
          <p:nvPr/>
        </p:nvPicPr>
        <p:blipFill rotWithShape="1">
          <a:blip r:embed="rId5" cstate="screen">
            <a:alphaModFix/>
            <a:extLst>
              <a:ext uri="{28A0092B-C50C-407E-A947-70E740481C1C}">
                <a14:useLocalDpi xmlns:a14="http://schemas.microsoft.com/office/drawing/2010/main"/>
              </a:ext>
            </a:extLst>
          </a:blip>
          <a:srcRect l="31171" t="35251"/>
          <a:stretch/>
        </p:blipFill>
        <p:spPr>
          <a:xfrm>
            <a:off x="0" y="0"/>
            <a:ext cx="673769" cy="6338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780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apositive de titre">
  <p:cSld name="Diapositive de titre">
    <p:spTree>
      <p:nvGrpSpPr>
        <p:cNvPr id="1" name="Shape 35"/>
        <p:cNvGrpSpPr/>
        <p:nvPr/>
      </p:nvGrpSpPr>
      <p:grpSpPr>
        <a:xfrm>
          <a:off x="0" y="0"/>
          <a:ext cx="0" cy="0"/>
          <a:chOff x="0" y="0"/>
          <a:chExt cx="0" cy="0"/>
        </a:xfrm>
      </p:grpSpPr>
      <p:pic>
        <p:nvPicPr>
          <p:cNvPr id="8" name="Google Shape;36;p35">
            <a:extLst>
              <a:ext uri="{FF2B5EF4-FFF2-40B4-BE49-F238E27FC236}">
                <a16:creationId xmlns:a16="http://schemas.microsoft.com/office/drawing/2014/main" id="{2F538870-B689-1449-ADE2-DC5640794BBF}"/>
              </a:ext>
            </a:extLst>
          </p:cNvPr>
          <p:cNvPicPr preferRelativeResize="0"/>
          <p:nvPr userDrawn="1"/>
        </p:nvPicPr>
        <p:blipFill rotWithShape="1">
          <a:blip r:embed="rId2" cstate="email">
            <a:extLst>
              <a:ext uri="{28A0092B-C50C-407E-A947-70E740481C1C}">
                <a14:useLocalDpi xmlns:a14="http://schemas.microsoft.com/office/drawing/2010/main" val="0"/>
              </a:ext>
            </a:extLst>
          </a:blip>
          <a:srcRect/>
          <a:stretch/>
        </p:blipFill>
        <p:spPr>
          <a:xfrm>
            <a:off x="8390412" y="3048343"/>
            <a:ext cx="3809657" cy="3809657"/>
          </a:xfrm>
          <a:prstGeom prst="rect">
            <a:avLst/>
          </a:prstGeom>
        </p:spPr>
      </p:pic>
      <p:sp>
        <p:nvSpPr>
          <p:cNvPr id="37" name="Google Shape;37;p35"/>
          <p:cNvSpPr/>
          <p:nvPr/>
        </p:nvSpPr>
        <p:spPr>
          <a:xfrm>
            <a:off x="10008974" y="4548010"/>
            <a:ext cx="2183025" cy="2309990"/>
          </a:xfrm>
          <a:prstGeom prst="rect">
            <a:avLst/>
          </a:prstGeom>
          <a:blipFill rotWithShape="1">
            <a:blip r:embed="rId3" cstate="print">
              <a:alphaModFix/>
              <a:extLst>
                <a:ext uri="{28A0092B-C50C-407E-A947-70E740481C1C}">
                  <a14:useLocalDpi xmlns:a14="http://schemas.microsoft.com/office/drawing/2010/main" val="0"/>
                </a:ext>
              </a:extLst>
            </a:blip>
            <a:stretch>
              <a:fillRect l="47470" t="20868"/>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8" name="Google Shape;38;p35"/>
          <p:cNvPicPr preferRelativeResize="0"/>
          <p:nvPr/>
        </p:nvPicPr>
        <p:blipFill rotWithShape="1">
          <a:blip r:embed="rId4" cstate="email">
            <a:extLst>
              <a:ext uri="{28A0092B-C50C-407E-A947-70E740481C1C}">
                <a14:useLocalDpi xmlns:a14="http://schemas.microsoft.com/office/drawing/2010/main" val="0"/>
              </a:ext>
            </a:extLst>
          </a:blip>
          <a:srcRect/>
          <a:stretch/>
        </p:blipFill>
        <p:spPr>
          <a:xfrm>
            <a:off x="11808458" y="4770808"/>
            <a:ext cx="391611" cy="767080"/>
          </a:xfrm>
          <a:prstGeom prst="rect">
            <a:avLst/>
          </a:prstGeom>
          <a:noFill/>
          <a:ln>
            <a:noFill/>
          </a:ln>
        </p:spPr>
      </p:pic>
      <p:sp>
        <p:nvSpPr>
          <p:cNvPr id="39" name="Google Shape;39;p35"/>
          <p:cNvSpPr txBox="1">
            <a:spLocks noGrp="1"/>
          </p:cNvSpPr>
          <p:nvPr>
            <p:ph type="subTitle" idx="1"/>
          </p:nvPr>
        </p:nvSpPr>
        <p:spPr>
          <a:xfrm>
            <a:off x="552450" y="3003324"/>
            <a:ext cx="5989864" cy="165576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18A1AB"/>
              </a:buClr>
              <a:buSzPts val="2700"/>
              <a:buFont typeface="Arial"/>
              <a:buNone/>
              <a:defRPr sz="2700" b="0" i="0" u="none" strike="noStrike" cap="none">
                <a:solidFill>
                  <a:srgbClr val="18A1AB"/>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40" name="Google Shape;40;p35"/>
          <p:cNvSpPr txBox="1">
            <a:spLocks noGrp="1"/>
          </p:cNvSpPr>
          <p:nvPr>
            <p:ph type="ctrTitle"/>
          </p:nvPr>
        </p:nvSpPr>
        <p:spPr>
          <a:xfrm>
            <a:off x="552450" y="702810"/>
            <a:ext cx="9144000" cy="2052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0D202F"/>
              </a:buClr>
              <a:buSzPts val="6500"/>
              <a:buFont typeface="Arial"/>
              <a:buNone/>
              <a:defRPr sz="6500" b="1" i="0" u="none" strike="noStrike" cap="none">
                <a:solidFill>
                  <a:srgbClr val="0D202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41" name="Google Shape;41;p35"/>
          <p:cNvPicPr preferRelativeResize="0"/>
          <p:nvPr/>
        </p:nvPicPr>
        <p:blipFill rotWithShape="1">
          <a:blip r:embed="rId5" cstate="email">
            <a:alphaModFix/>
            <a:extLst>
              <a:ext uri="{28A0092B-C50C-407E-A947-70E740481C1C}">
                <a14:useLocalDpi xmlns:a14="http://schemas.microsoft.com/office/drawing/2010/main" val="0"/>
              </a:ext>
            </a:extLst>
          </a:blip>
          <a:srcRect/>
          <a:stretch/>
        </p:blipFill>
        <p:spPr>
          <a:xfrm>
            <a:off x="552451" y="5724667"/>
            <a:ext cx="2419349" cy="713708"/>
          </a:xfrm>
          <a:prstGeom prst="rect">
            <a:avLst/>
          </a:prstGeom>
          <a:noFill/>
          <a:ln>
            <a:noFill/>
          </a:ln>
        </p:spPr>
      </p:pic>
    </p:spTree>
    <p:extLst>
      <p:ext uri="{BB962C8B-B14F-4D97-AF65-F5344CB8AC3E}">
        <p14:creationId xmlns:p14="http://schemas.microsoft.com/office/powerpoint/2010/main" val="1265680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Disposition personnalisée">
  <p:cSld name="1_Disposition personnalisée">
    <p:spTree>
      <p:nvGrpSpPr>
        <p:cNvPr id="1" name="Shape 56"/>
        <p:cNvGrpSpPr/>
        <p:nvPr/>
      </p:nvGrpSpPr>
      <p:grpSpPr>
        <a:xfrm>
          <a:off x="0" y="0"/>
          <a:ext cx="0" cy="0"/>
          <a:chOff x="0" y="0"/>
          <a:chExt cx="0" cy="0"/>
        </a:xfrm>
      </p:grpSpPr>
      <p:sp>
        <p:nvSpPr>
          <p:cNvPr id="57" name="Google Shape;57;p15"/>
          <p:cNvSpPr txBox="1">
            <a:spLocks noGrp="1"/>
          </p:cNvSpPr>
          <p:nvPr>
            <p:ph type="title"/>
          </p:nvPr>
        </p:nvSpPr>
        <p:spPr>
          <a:xfrm>
            <a:off x="495299" y="536577"/>
            <a:ext cx="5616743"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D202F"/>
              </a:buClr>
              <a:buSzPts val="3500"/>
              <a:buFont typeface="Arial"/>
              <a:buNone/>
              <a:defRPr sz="3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5"/>
          <p:cNvSpPr txBox="1">
            <a:spLocks noGrp="1"/>
          </p:cNvSpPr>
          <p:nvPr>
            <p:ph type="body" idx="1"/>
          </p:nvPr>
        </p:nvSpPr>
        <p:spPr>
          <a:xfrm>
            <a:off x="3048000" y="2038601"/>
            <a:ext cx="8653461" cy="4186237"/>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rgbClr val="18A1AB"/>
              </a:buClr>
              <a:buSzPts val="2400"/>
              <a:buFont typeface="Arial"/>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59" name="Google Shape;59;p15"/>
          <p:cNvPicPr preferRelativeResize="0"/>
          <p:nvPr/>
        </p:nvPicPr>
        <p:blipFill rotWithShape="1">
          <a:blip r:embed="rId2" cstate="email">
            <a:extLst>
              <a:ext uri="{28A0092B-C50C-407E-A947-70E740481C1C}">
                <a14:useLocalDpi xmlns:a14="http://schemas.microsoft.com/office/drawing/2010/main"/>
              </a:ext>
            </a:extLst>
          </a:blip>
          <a:srcRect/>
          <a:stretch/>
        </p:blipFill>
        <p:spPr>
          <a:xfrm>
            <a:off x="0" y="5427465"/>
            <a:ext cx="2423299" cy="1430535"/>
          </a:xfrm>
          <a:prstGeom prst="rect">
            <a:avLst/>
          </a:prstGeom>
          <a:noFill/>
          <a:ln>
            <a:noFill/>
          </a:ln>
        </p:spPr>
      </p:pic>
      <p:pic>
        <p:nvPicPr>
          <p:cNvPr id="60" name="Google Shape;60;p1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5943601"/>
            <a:ext cx="850777" cy="914400"/>
          </a:xfrm>
          <a:prstGeom prst="rect">
            <a:avLst/>
          </a:prstGeom>
          <a:noFill/>
          <a:ln>
            <a:noFill/>
          </a:ln>
        </p:spPr>
      </p:pic>
    </p:spTree>
    <p:extLst>
      <p:ext uri="{BB962C8B-B14F-4D97-AF65-F5344CB8AC3E}">
        <p14:creationId xmlns:p14="http://schemas.microsoft.com/office/powerpoint/2010/main" val="2972116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ding slide">
  <p:cSld name="Ending slide">
    <p:spTree>
      <p:nvGrpSpPr>
        <p:cNvPr id="1" name="Shape 117"/>
        <p:cNvGrpSpPr/>
        <p:nvPr/>
      </p:nvGrpSpPr>
      <p:grpSpPr>
        <a:xfrm>
          <a:off x="0" y="0"/>
          <a:ext cx="0" cy="0"/>
          <a:chOff x="0" y="0"/>
          <a:chExt cx="0" cy="0"/>
        </a:xfrm>
      </p:grpSpPr>
      <p:sp>
        <p:nvSpPr>
          <p:cNvPr id="118" name="Google Shape;118;p20"/>
          <p:cNvSpPr txBox="1">
            <a:spLocks noGrp="1"/>
          </p:cNvSpPr>
          <p:nvPr>
            <p:ph type="title"/>
          </p:nvPr>
        </p:nvSpPr>
        <p:spPr>
          <a:xfrm>
            <a:off x="838200" y="2794000"/>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0D202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65332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241915-E19C-3141-947D-4ACACBB9FA71}"/>
              </a:ext>
            </a:extLst>
          </p:cNvPr>
          <p:cNvSpPr>
            <a:spLocks noGrp="1"/>
          </p:cNvSpPr>
          <p:nvPr>
            <p:ph type="title" hasCustomPrompt="1"/>
          </p:nvPr>
        </p:nvSpPr>
        <p:spPr/>
        <p:txBody>
          <a:bodyPr/>
          <a:lstStyle/>
          <a:p>
            <a:r>
              <a:rPr lang="fr-FR" err="1"/>
              <a:t>Thank</a:t>
            </a:r>
            <a:r>
              <a:rPr lang="fr-FR"/>
              <a:t> </a:t>
            </a:r>
            <a:r>
              <a:rPr lang="fr-FR" err="1"/>
              <a:t>you</a:t>
            </a:r>
            <a:endParaRPr lang="fr-FR"/>
          </a:p>
        </p:txBody>
      </p:sp>
      <p:pic>
        <p:nvPicPr>
          <p:cNvPr id="4" name="Image 3">
            <a:extLst>
              <a:ext uri="{FF2B5EF4-FFF2-40B4-BE49-F238E27FC236}">
                <a16:creationId xmlns:a16="http://schemas.microsoft.com/office/drawing/2014/main" id="{0CB1C550-5104-CD40-898F-516D2AB6A00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31758" y="4459922"/>
            <a:ext cx="941308" cy="720000"/>
          </a:xfrm>
          <a:prstGeom prst="rect">
            <a:avLst/>
          </a:prstGeom>
        </p:spPr>
      </p:pic>
      <p:pic>
        <p:nvPicPr>
          <p:cNvPr id="6" name="Image 5">
            <a:extLst>
              <a:ext uri="{FF2B5EF4-FFF2-40B4-BE49-F238E27FC236}">
                <a16:creationId xmlns:a16="http://schemas.microsoft.com/office/drawing/2014/main" id="{FE6CBC3C-1605-C54F-8708-11351F2FA61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86683" y="4704570"/>
            <a:ext cx="661460" cy="367478"/>
          </a:xfrm>
          <a:prstGeom prst="rect">
            <a:avLst/>
          </a:prstGeom>
        </p:spPr>
      </p:pic>
      <p:pic>
        <p:nvPicPr>
          <p:cNvPr id="10" name="Image 9">
            <a:extLst>
              <a:ext uri="{FF2B5EF4-FFF2-40B4-BE49-F238E27FC236}">
                <a16:creationId xmlns:a16="http://schemas.microsoft.com/office/drawing/2014/main" id="{98416504-0388-2643-87BF-6D03797D395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482224" y="4524879"/>
            <a:ext cx="914400" cy="685801"/>
          </a:xfrm>
          <a:prstGeom prst="rect">
            <a:avLst/>
          </a:prstGeom>
        </p:spPr>
      </p:pic>
      <p:pic>
        <p:nvPicPr>
          <p:cNvPr id="12" name="Image 11">
            <a:extLst>
              <a:ext uri="{FF2B5EF4-FFF2-40B4-BE49-F238E27FC236}">
                <a16:creationId xmlns:a16="http://schemas.microsoft.com/office/drawing/2014/main" id="{0F754030-82C1-D041-9B33-99F4FCB3BFAF}"/>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3934003" y="5142595"/>
            <a:ext cx="1182467" cy="662489"/>
          </a:xfrm>
          <a:prstGeom prst="rect">
            <a:avLst/>
          </a:prstGeom>
        </p:spPr>
      </p:pic>
      <p:pic>
        <p:nvPicPr>
          <p:cNvPr id="14" name="Image 13">
            <a:extLst>
              <a:ext uri="{FF2B5EF4-FFF2-40B4-BE49-F238E27FC236}">
                <a16:creationId xmlns:a16="http://schemas.microsoft.com/office/drawing/2014/main" id="{C41868C8-198B-FE44-9A99-0D3BC2A3F164}"/>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5295509" y="5342161"/>
            <a:ext cx="1371600" cy="330200"/>
          </a:xfrm>
          <a:prstGeom prst="rect">
            <a:avLst/>
          </a:prstGeom>
        </p:spPr>
      </p:pic>
      <p:pic>
        <p:nvPicPr>
          <p:cNvPr id="21" name="Image 20">
            <a:extLst>
              <a:ext uri="{FF2B5EF4-FFF2-40B4-BE49-F238E27FC236}">
                <a16:creationId xmlns:a16="http://schemas.microsoft.com/office/drawing/2014/main" id="{348B321D-20B6-6A4E-8040-CAE553993F2F}"/>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8135532" y="5297508"/>
            <a:ext cx="1481315" cy="350578"/>
          </a:xfrm>
          <a:prstGeom prst="rect">
            <a:avLst/>
          </a:prstGeom>
        </p:spPr>
      </p:pic>
      <p:pic>
        <p:nvPicPr>
          <p:cNvPr id="23" name="Image 22">
            <a:extLst>
              <a:ext uri="{FF2B5EF4-FFF2-40B4-BE49-F238E27FC236}">
                <a16:creationId xmlns:a16="http://schemas.microsoft.com/office/drawing/2014/main" id="{3BFDDB72-0B62-8B4E-8AC7-ED6F4F4A6BEB}"/>
              </a:ext>
            </a:extLst>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7734989" y="4716334"/>
            <a:ext cx="773793" cy="343339"/>
          </a:xfrm>
          <a:prstGeom prst="rect">
            <a:avLst/>
          </a:prstGeom>
        </p:spPr>
      </p:pic>
      <p:pic>
        <p:nvPicPr>
          <p:cNvPr id="25" name="Image 24">
            <a:extLst>
              <a:ext uri="{FF2B5EF4-FFF2-40B4-BE49-F238E27FC236}">
                <a16:creationId xmlns:a16="http://schemas.microsoft.com/office/drawing/2014/main" id="{0B39A7D9-188A-BD4E-9043-C94867C2C351}"/>
              </a:ext>
            </a:extLst>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2655046" y="5297508"/>
            <a:ext cx="1189437" cy="429520"/>
          </a:xfrm>
          <a:prstGeom prst="rect">
            <a:avLst/>
          </a:prstGeom>
        </p:spPr>
      </p:pic>
      <p:pic>
        <p:nvPicPr>
          <p:cNvPr id="27" name="Image 26">
            <a:extLst>
              <a:ext uri="{FF2B5EF4-FFF2-40B4-BE49-F238E27FC236}">
                <a16:creationId xmlns:a16="http://schemas.microsoft.com/office/drawing/2014/main" id="{151EFAD6-D404-E54F-B913-F86715A14ED1}"/>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6846149" y="5362644"/>
            <a:ext cx="1110343" cy="220306"/>
          </a:xfrm>
          <a:prstGeom prst="rect">
            <a:avLst/>
          </a:prstGeom>
        </p:spPr>
      </p:pic>
      <p:pic>
        <p:nvPicPr>
          <p:cNvPr id="31" name="Image 30">
            <a:extLst>
              <a:ext uri="{FF2B5EF4-FFF2-40B4-BE49-F238E27FC236}">
                <a16:creationId xmlns:a16="http://schemas.microsoft.com/office/drawing/2014/main" id="{A3C9C139-029B-2E4D-B287-7173C743909D}"/>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2007206" y="4524879"/>
            <a:ext cx="1415885" cy="613007"/>
          </a:xfrm>
          <a:prstGeom prst="rect">
            <a:avLst/>
          </a:prstGeom>
        </p:spPr>
      </p:pic>
      <p:pic>
        <p:nvPicPr>
          <p:cNvPr id="33" name="Image 32">
            <a:extLst>
              <a:ext uri="{FF2B5EF4-FFF2-40B4-BE49-F238E27FC236}">
                <a16:creationId xmlns:a16="http://schemas.microsoft.com/office/drawing/2014/main" id="{86B59C4C-50AD-AB41-8F26-B99A136AE0E5}"/>
              </a:ext>
            </a:extLst>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6545534" y="4609577"/>
            <a:ext cx="930198" cy="495300"/>
          </a:xfrm>
          <a:prstGeom prst="rect">
            <a:avLst/>
          </a:prstGeom>
        </p:spPr>
      </p:pic>
      <p:pic>
        <p:nvPicPr>
          <p:cNvPr id="35" name="Image 34">
            <a:extLst>
              <a:ext uri="{FF2B5EF4-FFF2-40B4-BE49-F238E27FC236}">
                <a16:creationId xmlns:a16="http://schemas.microsoft.com/office/drawing/2014/main" id="{1C04DADE-62B1-D541-A7E9-3DCBFFA19BD0}"/>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t="-21694" b="-1"/>
          <a:stretch/>
        </p:blipFill>
        <p:spPr>
          <a:xfrm>
            <a:off x="8834911" y="4541291"/>
            <a:ext cx="487352" cy="577927"/>
          </a:xfrm>
          <a:prstGeom prst="rect">
            <a:avLst/>
          </a:prstGeom>
        </p:spPr>
      </p:pic>
      <p:pic>
        <p:nvPicPr>
          <p:cNvPr id="37" name="Image 36">
            <a:extLst>
              <a:ext uri="{FF2B5EF4-FFF2-40B4-BE49-F238E27FC236}">
                <a16:creationId xmlns:a16="http://schemas.microsoft.com/office/drawing/2014/main" id="{EE0B9021-7602-2048-B780-4C47CD4EC832}"/>
              </a:ext>
            </a:extLst>
          </p:cNvPr>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5177009" y="5842816"/>
            <a:ext cx="1085131" cy="402104"/>
          </a:xfrm>
          <a:prstGeom prst="rect">
            <a:avLst/>
          </a:prstGeom>
        </p:spPr>
      </p:pic>
      <p:pic>
        <p:nvPicPr>
          <p:cNvPr id="39" name="Image 38">
            <a:extLst>
              <a:ext uri="{FF2B5EF4-FFF2-40B4-BE49-F238E27FC236}">
                <a16:creationId xmlns:a16="http://schemas.microsoft.com/office/drawing/2014/main" id="{8D512B02-2A58-DC4F-8184-E8B7F897D3E3}"/>
              </a:ext>
            </a:extLst>
          </p:cNvPr>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9648393" y="4649751"/>
            <a:ext cx="413657" cy="413657"/>
          </a:xfrm>
          <a:prstGeom prst="rect">
            <a:avLst/>
          </a:prstGeom>
        </p:spPr>
      </p:pic>
      <p:pic>
        <p:nvPicPr>
          <p:cNvPr id="5" name="Image 4">
            <a:extLst>
              <a:ext uri="{FF2B5EF4-FFF2-40B4-BE49-F238E27FC236}">
                <a16:creationId xmlns:a16="http://schemas.microsoft.com/office/drawing/2014/main" id="{B2173160-9636-5D4E-984A-6F04FE670194}"/>
              </a:ext>
            </a:extLst>
          </p:cNvPr>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545534" y="5886190"/>
            <a:ext cx="1343964" cy="316227"/>
          </a:xfrm>
          <a:prstGeom prst="rect">
            <a:avLst/>
          </a:prstGeom>
        </p:spPr>
      </p:pic>
      <p:pic>
        <p:nvPicPr>
          <p:cNvPr id="22" name="Image 38">
            <a:extLst>
              <a:ext uri="{FF2B5EF4-FFF2-40B4-BE49-F238E27FC236}">
                <a16:creationId xmlns:a16="http://schemas.microsoft.com/office/drawing/2014/main" id="{CB2E5128-2CF9-43E9-B36F-E36DBC429142}"/>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2161496" y="5265967"/>
            <a:ext cx="413657" cy="413657"/>
          </a:xfrm>
          <a:prstGeom prst="rect">
            <a:avLst/>
          </a:prstGeom>
        </p:spPr>
      </p:pic>
      <p:pic>
        <p:nvPicPr>
          <p:cNvPr id="7" name="Image 38">
            <a:extLst>
              <a:ext uri="{FF2B5EF4-FFF2-40B4-BE49-F238E27FC236}">
                <a16:creationId xmlns:a16="http://schemas.microsoft.com/office/drawing/2014/main" id="{5C7E9AEA-168F-4648-80CF-AE27902B2667}"/>
              </a:ext>
            </a:extLst>
          </p:cNvPr>
          <p:cNvPicPr>
            <a:picLocks noChangeAspect="1"/>
          </p:cNvPicPr>
          <p:nvPr userDrawn="1"/>
        </p:nvPicPr>
        <p:blipFill>
          <a:blip r:embed="rId18" cstate="screen">
            <a:extLst>
              <a:ext uri="{28A0092B-C50C-407E-A947-70E740481C1C}">
                <a14:useLocalDpi xmlns:a14="http://schemas.microsoft.com/office/drawing/2010/main"/>
              </a:ext>
            </a:extLst>
          </a:blip>
          <a:srcRect/>
          <a:stretch/>
        </p:blipFill>
        <p:spPr>
          <a:xfrm>
            <a:off x="9616847" y="5334911"/>
            <a:ext cx="413657" cy="275771"/>
          </a:xfrm>
          <a:prstGeom prst="rect">
            <a:avLst/>
          </a:prstGeom>
        </p:spPr>
      </p:pic>
    </p:spTree>
    <p:extLst>
      <p:ext uri="{BB962C8B-B14F-4D97-AF65-F5344CB8AC3E}">
        <p14:creationId xmlns:p14="http://schemas.microsoft.com/office/powerpoint/2010/main" val="28339858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theme" Target="../theme/theme2.xml"/><Relationship Id="rId7" Type="http://schemas.openxmlformats.org/officeDocument/2006/relationships/image" Target="../media/image20.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17.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
        <p:cNvGrpSpPr/>
        <p:nvPr/>
      </p:nvGrpSpPr>
      <p:grpSpPr>
        <a:xfrm>
          <a:off x="0" y="0"/>
          <a:ext cx="0" cy="0"/>
          <a:chOff x="0" y="0"/>
          <a:chExt cx="0" cy="0"/>
        </a:xfrm>
      </p:grpSpPr>
      <p:sp>
        <p:nvSpPr>
          <p:cNvPr id="43" name="Google Shape;43;p12"/>
          <p:cNvSpPr txBox="1">
            <a:spLocks noGrp="1"/>
          </p:cNvSpPr>
          <p:nvPr>
            <p:ph type="title"/>
          </p:nvPr>
        </p:nvSpPr>
        <p:spPr>
          <a:xfrm>
            <a:off x="495299" y="536577"/>
            <a:ext cx="11206163"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D202F"/>
              </a:buClr>
              <a:buSzPts val="4000"/>
              <a:buFont typeface="Arial"/>
              <a:buNone/>
              <a:defRPr sz="4000" b="1" i="0" u="none" strike="noStrike" cap="none">
                <a:solidFill>
                  <a:srgbClr val="0D202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4" name="Google Shape;44;p12"/>
          <p:cNvSpPr txBox="1">
            <a:spLocks noGrp="1"/>
          </p:cNvSpPr>
          <p:nvPr>
            <p:ph type="body" idx="1"/>
          </p:nvPr>
        </p:nvSpPr>
        <p:spPr>
          <a:xfrm>
            <a:off x="495299" y="1997077"/>
            <a:ext cx="11206163" cy="4351338"/>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000"/>
              </a:spcBef>
              <a:spcAft>
                <a:spcPts val="0"/>
              </a:spcAft>
              <a:buClr>
                <a:srgbClr val="18A1AB"/>
              </a:buClr>
              <a:buSzPts val="2400"/>
              <a:buFont typeface="Arial"/>
              <a:buChar char="•"/>
              <a:defRPr sz="2400" b="0" i="0" u="none" strike="noStrike" cap="none">
                <a:solidFill>
                  <a:srgbClr val="18A1A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4" r:id="rId1"/>
    <p:sldLayoutId id="2147483674" r:id="rId2"/>
    <p:sldLayoutId id="2147483664" r:id="rId3"/>
    <p:sldLayoutId id="2147483675" r:id="rId4"/>
    <p:sldLayoutId id="2147483697" r:id="rId5"/>
    <p:sldLayoutId id="2147483698"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pic>
        <p:nvPicPr>
          <p:cNvPr id="15" name="Image 14">
            <a:extLst>
              <a:ext uri="{FF2B5EF4-FFF2-40B4-BE49-F238E27FC236}">
                <a16:creationId xmlns:a16="http://schemas.microsoft.com/office/drawing/2014/main" id="{8115A19F-462E-5E44-B7C1-E50A9BC58E2D}"/>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t="-969"/>
          <a:stretch/>
        </p:blipFill>
        <p:spPr>
          <a:xfrm>
            <a:off x="7740203" y="2897746"/>
            <a:ext cx="4451796" cy="3960254"/>
          </a:xfrm>
          <a:prstGeom prst="rect">
            <a:avLst/>
          </a:prstGeom>
        </p:spPr>
      </p:pic>
      <p:pic>
        <p:nvPicPr>
          <p:cNvPr id="12" name="Image 11">
            <a:extLst>
              <a:ext uri="{FF2B5EF4-FFF2-40B4-BE49-F238E27FC236}">
                <a16:creationId xmlns:a16="http://schemas.microsoft.com/office/drawing/2014/main" id="{CA809499-92C6-134A-8C85-9BEB1D78B50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rot="10800000">
            <a:off x="-2" y="0"/>
            <a:ext cx="5230234" cy="3705928"/>
          </a:xfrm>
          <a:prstGeom prst="rect">
            <a:avLst/>
          </a:prstGeom>
        </p:spPr>
      </p:pic>
      <p:sp>
        <p:nvSpPr>
          <p:cNvPr id="111" name="Google Shape;111;p19"/>
          <p:cNvSpPr/>
          <p:nvPr/>
        </p:nvSpPr>
        <p:spPr>
          <a:xfrm>
            <a:off x="10537370" y="4225650"/>
            <a:ext cx="1654629" cy="2645228"/>
          </a:xfrm>
          <a:prstGeom prst="rect">
            <a:avLst/>
          </a:prstGeom>
          <a:blipFill rotWithShape="1">
            <a:blip r:embed="rId6" cstate="screen">
              <a:alphaModFix/>
              <a:extLst>
                <a:ext uri="{28A0092B-C50C-407E-A947-70E740481C1C}">
                  <a14:useLocalDpi xmlns:a14="http://schemas.microsoft.com/office/drawing/2010/main"/>
                </a:ext>
              </a:extLst>
            </a:blip>
            <a:stretch>
              <a:fillRect l="6580" t="6153"/>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6" name="Google Shape;116;p19"/>
          <p:cNvSpPr txBox="1">
            <a:spLocks noGrp="1"/>
          </p:cNvSpPr>
          <p:nvPr>
            <p:ph type="title"/>
          </p:nvPr>
        </p:nvSpPr>
        <p:spPr>
          <a:xfrm>
            <a:off x="838200" y="2794000"/>
            <a:ext cx="10515600" cy="132556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rgbClr val="0D202F"/>
              </a:buClr>
              <a:buSzPts val="8000"/>
              <a:buFont typeface="Arial"/>
              <a:buNone/>
              <a:defRPr sz="8000" b="1" i="0" u="none" strike="noStrike" cap="none">
                <a:solidFill>
                  <a:srgbClr val="0D202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6" name="Picture 5">
            <a:extLst>
              <a:ext uri="{FF2B5EF4-FFF2-40B4-BE49-F238E27FC236}">
                <a16:creationId xmlns:a16="http://schemas.microsoft.com/office/drawing/2014/main" id="{75BEBFF9-104F-D545-166A-E42CE7FF6561}"/>
              </a:ext>
            </a:extLst>
          </p:cNvPr>
          <p:cNvPicPr>
            <a:picLocks noChangeAspect="1"/>
          </p:cNvPicPr>
          <p:nvPr userDrawn="1"/>
        </p:nvPicPr>
        <p:blipFill rotWithShape="1">
          <a:blip r:embed="rId7"/>
          <a:srcRect t="17996"/>
          <a:stretch/>
        </p:blipFill>
        <p:spPr>
          <a:xfrm>
            <a:off x="1095937" y="0"/>
            <a:ext cx="2298391" cy="1884757"/>
          </a:xfrm>
          <a:prstGeom prst="rect">
            <a:avLst/>
          </a:prstGeom>
        </p:spPr>
      </p:pic>
      <p:pic>
        <p:nvPicPr>
          <p:cNvPr id="9" name="Picture 8">
            <a:extLst>
              <a:ext uri="{FF2B5EF4-FFF2-40B4-BE49-F238E27FC236}">
                <a16:creationId xmlns:a16="http://schemas.microsoft.com/office/drawing/2014/main" id="{52E75882-6CB0-1088-17BE-33E017738316}"/>
              </a:ext>
            </a:extLst>
          </p:cNvPr>
          <p:cNvPicPr>
            <a:picLocks noChangeAspect="1"/>
          </p:cNvPicPr>
          <p:nvPr userDrawn="1"/>
        </p:nvPicPr>
        <p:blipFill rotWithShape="1">
          <a:blip r:embed="rId8"/>
          <a:srcRect b="39579"/>
          <a:stretch/>
        </p:blipFill>
        <p:spPr>
          <a:xfrm>
            <a:off x="9598814" y="5406654"/>
            <a:ext cx="2408129" cy="1451346"/>
          </a:xfrm>
          <a:prstGeom prst="rect">
            <a:avLst/>
          </a:prstGeom>
        </p:spPr>
      </p:pic>
    </p:spTree>
    <p:extLst>
      <p:ext uri="{BB962C8B-B14F-4D97-AF65-F5344CB8AC3E}">
        <p14:creationId xmlns:p14="http://schemas.microsoft.com/office/powerpoint/2010/main" val="832635192"/>
      </p:ext>
    </p:extLst>
  </p:cSld>
  <p:clrMap bg1="lt1" tx1="dk1" bg2="dk2" tx2="lt2" accent1="accent1" accent2="accent2" accent3="accent3" accent4="accent4" accent5="accent5" accent6="accent6" hlink="hlink" folHlink="folHlink"/>
  <p:sldLayoutIdLst>
    <p:sldLayoutId id="2147483700" r:id="rId1"/>
    <p:sldLayoutId id="2147483701"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D33B1064-EDB6-45F4-B655-2809120789C1}"/>
              </a:ext>
            </a:extLst>
          </p:cNvPr>
          <p:cNvSpPr>
            <a:spLocks noGrp="1"/>
          </p:cNvSpPr>
          <p:nvPr>
            <p:ph type="subTitle" idx="1"/>
          </p:nvPr>
        </p:nvSpPr>
        <p:spPr>
          <a:xfrm>
            <a:off x="552449" y="3003324"/>
            <a:ext cx="8406355" cy="1655762"/>
          </a:xfrm>
        </p:spPr>
        <p:txBody>
          <a:bodyPr/>
          <a:lstStyle/>
          <a:p>
            <a:r>
              <a:rPr lang="en-US" i="1" dirty="0"/>
              <a:t>MT Retreat </a:t>
            </a:r>
          </a:p>
          <a:p>
            <a:r>
              <a:rPr lang="en-GB" i="1" dirty="0"/>
              <a:t>Sept. 11, 2024</a:t>
            </a:r>
          </a:p>
        </p:txBody>
      </p:sp>
      <p:sp>
        <p:nvSpPr>
          <p:cNvPr id="7" name="Titre 2">
            <a:extLst>
              <a:ext uri="{FF2B5EF4-FFF2-40B4-BE49-F238E27FC236}">
                <a16:creationId xmlns:a16="http://schemas.microsoft.com/office/drawing/2014/main" id="{8F09A4C1-337A-2D41-8673-862C51DA9CA0}"/>
              </a:ext>
            </a:extLst>
          </p:cNvPr>
          <p:cNvSpPr>
            <a:spLocks noGrp="1"/>
          </p:cNvSpPr>
          <p:nvPr>
            <p:ph type="ctrTitle"/>
          </p:nvPr>
        </p:nvSpPr>
        <p:spPr>
          <a:xfrm>
            <a:off x="552449" y="702810"/>
            <a:ext cx="10952785" cy="2052000"/>
          </a:xfrm>
        </p:spPr>
        <p:txBody>
          <a:bodyPr/>
          <a:lstStyle/>
          <a:p>
            <a:r>
              <a:rPr kumimoji="0" lang="en-US" sz="3600" b="1" i="0" u="none" strike="noStrike" kern="0" cap="none" spc="0" normalizeH="0" baseline="0" noProof="0" dirty="0">
                <a:ln>
                  <a:noFill/>
                </a:ln>
                <a:solidFill>
                  <a:srgbClr val="000000"/>
                </a:solidFill>
                <a:effectLst/>
                <a:uLnTx/>
                <a:uFillTx/>
                <a:latin typeface="Arial"/>
                <a:cs typeface="Arial"/>
                <a:sym typeface="Arial"/>
              </a:rPr>
              <a:t>Discussion on potential investment on manufacturing for GARDP portfolio drugs </a:t>
            </a:r>
            <a:br>
              <a:rPr kumimoji="0" lang="en-US" sz="3600" b="1" i="0" u="none" strike="noStrike" kern="0" cap="none" spc="0" normalizeH="0" baseline="0" noProof="0" dirty="0">
                <a:ln>
                  <a:noFill/>
                </a:ln>
                <a:solidFill>
                  <a:srgbClr val="000000"/>
                </a:solidFill>
                <a:effectLst/>
                <a:uLnTx/>
                <a:uFillTx/>
                <a:latin typeface="Arial"/>
                <a:cs typeface="Arial"/>
                <a:sym typeface="Arial"/>
              </a:rPr>
            </a:br>
            <a:r>
              <a:rPr kumimoji="0" lang="en-US" sz="3600" b="1" i="0" u="none" strike="noStrike" kern="0" cap="none" spc="0" normalizeH="0" baseline="0" noProof="0" dirty="0">
                <a:ln>
                  <a:noFill/>
                </a:ln>
                <a:solidFill>
                  <a:srgbClr val="000000"/>
                </a:solidFill>
                <a:effectLst/>
                <a:uLnTx/>
                <a:uFillTx/>
                <a:latin typeface="Arial"/>
                <a:cs typeface="Arial"/>
                <a:sym typeface="Arial"/>
              </a:rPr>
              <a:t>(focus on generic)</a:t>
            </a:r>
            <a:br>
              <a:rPr kumimoji="0" lang="en-US" sz="3600" b="1" i="0" u="none" strike="noStrike" kern="0" cap="none" spc="0" normalizeH="0" baseline="0" noProof="0" dirty="0">
                <a:ln>
                  <a:noFill/>
                </a:ln>
                <a:solidFill>
                  <a:srgbClr val="000000"/>
                </a:solidFill>
                <a:effectLst/>
                <a:uLnTx/>
                <a:uFillTx/>
                <a:latin typeface="Arial"/>
                <a:cs typeface="Arial"/>
                <a:sym typeface="Arial"/>
              </a:rPr>
            </a:br>
            <a:endParaRPr lang="en-GB" sz="3600" dirty="0"/>
          </a:p>
        </p:txBody>
      </p:sp>
    </p:spTree>
    <p:extLst>
      <p:ext uri="{BB962C8B-B14F-4D97-AF65-F5344CB8AC3E}">
        <p14:creationId xmlns:p14="http://schemas.microsoft.com/office/powerpoint/2010/main" val="783787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245CB-8317-53FC-DDD8-92F42FEE7A3D}"/>
              </a:ext>
            </a:extLst>
          </p:cNvPr>
          <p:cNvSpPr txBox="1">
            <a:spLocks/>
          </p:cNvSpPr>
          <p:nvPr/>
        </p:nvSpPr>
        <p:spPr>
          <a:xfrm>
            <a:off x="607476" y="133883"/>
            <a:ext cx="10027866" cy="693640"/>
          </a:xfrm>
          <a:prstGeom prst="rect">
            <a:avLst/>
          </a:prstGeom>
          <a:noFill/>
          <a:ln>
            <a:noFill/>
          </a:ln>
        </p:spPr>
        <p:txBody>
          <a:bodyPr spcFirstLastPara="1" wrap="square" lIns="0"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0D202F"/>
              </a:buClr>
              <a:buSzPts val="3500"/>
              <a:buFont typeface="Arial"/>
              <a:buNone/>
              <a:defRPr sz="3500" b="1" i="0" u="none" strike="noStrike" cap="none">
                <a:solidFill>
                  <a:srgbClr val="0D202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D202F"/>
              </a:buClr>
              <a:buSzPts val="3500"/>
              <a:buFont typeface="Arial"/>
              <a:buNone/>
              <a:tabLst/>
              <a:defRPr/>
            </a:pPr>
            <a:r>
              <a:rPr kumimoji="0" lang="en-US" sz="3500" b="1" i="0" u="none" strike="noStrike" kern="0" cap="none" spc="0" normalizeH="0" baseline="0" noProof="0" dirty="0">
                <a:ln>
                  <a:noFill/>
                </a:ln>
                <a:solidFill>
                  <a:srgbClr val="0D202F"/>
                </a:solidFill>
                <a:effectLst/>
                <a:uLnTx/>
                <a:uFillTx/>
                <a:latin typeface="Arial"/>
                <a:cs typeface="Arial"/>
                <a:sym typeface="Arial"/>
              </a:rPr>
              <a:t>Agenda</a:t>
            </a:r>
          </a:p>
        </p:txBody>
      </p:sp>
      <p:cxnSp>
        <p:nvCxnSpPr>
          <p:cNvPr id="5" name="Straight Connector 4">
            <a:extLst>
              <a:ext uri="{FF2B5EF4-FFF2-40B4-BE49-F238E27FC236}">
                <a16:creationId xmlns:a16="http://schemas.microsoft.com/office/drawing/2014/main" id="{58637767-4B68-7AB7-D513-22AD29EC69C8}"/>
              </a:ext>
            </a:extLst>
          </p:cNvPr>
          <p:cNvCxnSpPr/>
          <p:nvPr/>
        </p:nvCxnSpPr>
        <p:spPr>
          <a:xfrm>
            <a:off x="641496" y="929576"/>
            <a:ext cx="3600000" cy="0"/>
          </a:xfrm>
          <a:prstGeom prst="line">
            <a:avLst/>
          </a:prstGeom>
          <a:ln w="19050">
            <a:solidFill>
              <a:srgbClr val="0B6377"/>
            </a:solidFill>
          </a:ln>
        </p:spPr>
        <p:style>
          <a:lnRef idx="1">
            <a:schemeClr val="accent1"/>
          </a:lnRef>
          <a:fillRef idx="0">
            <a:schemeClr val="accent1"/>
          </a:fillRef>
          <a:effectRef idx="0">
            <a:schemeClr val="accent1"/>
          </a:effectRef>
          <a:fontRef idx="minor">
            <a:schemeClr val="tx1"/>
          </a:fontRef>
        </p:style>
      </p:cxnSp>
      <p:sp>
        <p:nvSpPr>
          <p:cNvPr id="8" name="Espace réservé du texte 2">
            <a:extLst>
              <a:ext uri="{FF2B5EF4-FFF2-40B4-BE49-F238E27FC236}">
                <a16:creationId xmlns:a16="http://schemas.microsoft.com/office/drawing/2014/main" id="{EABB04A1-F13C-7DF1-6EBC-F1F655E8CCED}"/>
              </a:ext>
            </a:extLst>
          </p:cNvPr>
          <p:cNvSpPr txBox="1">
            <a:spLocks/>
          </p:cNvSpPr>
          <p:nvPr/>
        </p:nvSpPr>
        <p:spPr>
          <a:xfrm>
            <a:off x="711762" y="1412968"/>
            <a:ext cx="10774898" cy="497475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189" marR="0" lvl="0" indent="-380990" algn="l" rtl="0">
              <a:lnSpc>
                <a:spcPct val="90000"/>
              </a:lnSpc>
              <a:spcBef>
                <a:spcPts val="1000"/>
              </a:spcBef>
              <a:spcAft>
                <a:spcPts val="0"/>
              </a:spcAft>
              <a:buClr>
                <a:srgbClr val="18A1AB"/>
              </a:buClr>
              <a:buSzPts val="2400"/>
              <a:buFont typeface="Arial"/>
              <a:buChar char="•"/>
              <a:defRPr sz="2400" b="0" i="0" u="none" strike="noStrike" cap="none">
                <a:solidFill>
                  <a:srgbClr val="18A1AB"/>
                </a:solidFill>
                <a:latin typeface="Arial"/>
                <a:ea typeface="Arial"/>
                <a:cs typeface="Arial"/>
                <a:sym typeface="Arial"/>
              </a:defRPr>
            </a:lvl1pPr>
            <a:lvl2pPr marL="914377" marR="0" lvl="1" indent="-342891"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566" marR="0" lvl="2" indent="-342891"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754" marR="0" lvl="3" indent="-342891"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5943" marR="0" lvl="4" indent="-342891"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131" marR="0" lvl="5" indent="-342891"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320" marR="0" lvl="6" indent="-342891"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509" marR="0" lvl="7" indent="-342891"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697" marR="0" lvl="8" indent="-342891"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28600" indent="0">
              <a:lnSpc>
                <a:spcPct val="100000"/>
              </a:lnSpc>
              <a:spcBef>
                <a:spcPts val="900"/>
              </a:spcBef>
              <a:buNone/>
              <a:defRPr/>
            </a:pPr>
            <a:r>
              <a:rPr kumimoji="0" lang="en-US" sz="1900" b="1" i="0" u="none" strike="noStrike" kern="0" cap="none" spc="0" normalizeH="0" baseline="0" noProof="0" dirty="0">
                <a:ln>
                  <a:noFill/>
                </a:ln>
                <a:solidFill>
                  <a:srgbClr val="000000"/>
                </a:solidFill>
                <a:effectLst/>
                <a:uLnTx/>
                <a:uFillTx/>
                <a:latin typeface="Arial"/>
                <a:cs typeface="Arial"/>
                <a:sym typeface="Arial"/>
              </a:rPr>
              <a:t>10h00 – 12h00: Discussion on potential investment for generic companies/products  </a:t>
            </a:r>
          </a:p>
          <a:p>
            <a:pPr marL="514350" indent="-285750">
              <a:lnSpc>
                <a:spcPct val="100000"/>
              </a:lnSpc>
              <a:spcBef>
                <a:spcPts val="900"/>
              </a:spcBef>
              <a:buClr>
                <a:srgbClr val="0B6377"/>
              </a:buClr>
              <a:buSzPct val="100000"/>
              <a:buFont typeface="Wingdings" panose="05000000000000000000" pitchFamily="2" charset="2"/>
              <a:buChar char="§"/>
              <a:defRPr/>
            </a:pPr>
            <a:r>
              <a:rPr kumimoji="0" lang="en-US" sz="1700" i="0" u="sng" strike="noStrike" kern="0" cap="none" spc="0" normalizeH="0" baseline="0" noProof="0" dirty="0">
                <a:ln>
                  <a:noFill/>
                </a:ln>
                <a:solidFill>
                  <a:srgbClr val="000000"/>
                </a:solidFill>
                <a:effectLst/>
                <a:uLnTx/>
                <a:uFillTx/>
                <a:latin typeface="Arial"/>
                <a:cs typeface="Arial"/>
                <a:sym typeface="Arial"/>
              </a:rPr>
              <a:t>Objective/focus of the discussion</a:t>
            </a:r>
            <a:r>
              <a:rPr kumimoji="0" lang="en-US" sz="1700" i="0" u="none" strike="noStrike" kern="0" cap="none" spc="0" normalizeH="0" baseline="0" noProof="0" dirty="0">
                <a:ln>
                  <a:noFill/>
                </a:ln>
                <a:solidFill>
                  <a:srgbClr val="000000"/>
                </a:solidFill>
                <a:effectLst/>
                <a:uLnTx/>
                <a:uFillTx/>
                <a:latin typeface="Arial"/>
                <a:cs typeface="Arial"/>
                <a:sym typeface="Arial"/>
              </a:rPr>
              <a:t>: Define the scope of potential support for or investment in additional manufacturers to support the production of quality assured products for neonatal sepsis (</a:t>
            </a:r>
            <a:r>
              <a:rPr kumimoji="0" lang="en-US" sz="1700" i="0" u="none" strike="noStrike" kern="0" cap="none" spc="0" normalizeH="0" baseline="0" noProof="0" dirty="0" err="1">
                <a:ln>
                  <a:noFill/>
                </a:ln>
                <a:solidFill>
                  <a:srgbClr val="000000"/>
                </a:solidFill>
                <a:effectLst/>
                <a:uLnTx/>
                <a:uFillTx/>
                <a:latin typeface="Arial"/>
                <a:cs typeface="Arial"/>
                <a:sym typeface="Arial"/>
              </a:rPr>
              <a:t>fosfomycin</a:t>
            </a:r>
            <a:r>
              <a:rPr kumimoji="0" lang="en-US" sz="1700" i="0" u="none" strike="noStrike" kern="0" cap="none" spc="0" normalizeH="0" baseline="0" noProof="0" dirty="0">
                <a:ln>
                  <a:noFill/>
                </a:ln>
                <a:solidFill>
                  <a:srgbClr val="000000"/>
                </a:solidFill>
                <a:effectLst/>
                <a:uLnTx/>
                <a:uFillTx/>
                <a:latin typeface="Arial"/>
                <a:cs typeface="Arial"/>
                <a:sym typeface="Arial"/>
              </a:rPr>
              <a:t> and flomoxef). The approach to these products can be used as a template for how GARDP approaches its support for generic supply more generally. </a:t>
            </a:r>
          </a:p>
          <a:p>
            <a:pPr marL="514350" indent="-285750">
              <a:lnSpc>
                <a:spcPct val="100000"/>
              </a:lnSpc>
              <a:spcBef>
                <a:spcPts val="900"/>
              </a:spcBef>
              <a:buClr>
                <a:srgbClr val="0B6377"/>
              </a:buClr>
              <a:buSzPct val="100000"/>
              <a:buFont typeface="Wingdings" panose="05000000000000000000" pitchFamily="2" charset="2"/>
              <a:buChar char="§"/>
              <a:defRPr/>
            </a:pPr>
            <a:r>
              <a:rPr kumimoji="0" lang="en-US" sz="1700" i="0" u="sng" strike="noStrike" kern="0" cap="none" spc="0" normalizeH="0" baseline="0" noProof="0" dirty="0">
                <a:ln>
                  <a:noFill/>
                </a:ln>
                <a:solidFill>
                  <a:srgbClr val="000000"/>
                </a:solidFill>
                <a:effectLst/>
                <a:uLnTx/>
                <a:uFillTx/>
                <a:latin typeface="Arial"/>
                <a:cs typeface="Arial"/>
                <a:sym typeface="Arial"/>
              </a:rPr>
              <a:t>Key questions</a:t>
            </a:r>
            <a:r>
              <a:rPr kumimoji="0" lang="en-US" sz="1700" i="0" u="none" strike="noStrike" kern="0" cap="none" spc="0" normalizeH="0" baseline="0" noProof="0" dirty="0">
                <a:ln>
                  <a:noFill/>
                </a:ln>
                <a:solidFill>
                  <a:srgbClr val="000000"/>
                </a:solidFill>
                <a:effectLst/>
                <a:uLnTx/>
                <a:uFillTx/>
                <a:latin typeface="Arial"/>
                <a:cs typeface="Arial"/>
                <a:sym typeface="Arial"/>
              </a:rPr>
              <a:t>: </a:t>
            </a:r>
          </a:p>
          <a:p>
            <a:pPr marL="892175" indent="-285750">
              <a:lnSpc>
                <a:spcPct val="100000"/>
              </a:lnSpc>
              <a:spcBef>
                <a:spcPts val="900"/>
              </a:spcBef>
              <a:buClr>
                <a:srgbClr val="0B6377"/>
              </a:buClr>
              <a:buSzPct val="80000"/>
              <a:buFont typeface="Wingdings" panose="05000000000000000000" pitchFamily="2" charset="2"/>
              <a:buChar char="ü"/>
              <a:defRPr/>
            </a:pPr>
            <a:r>
              <a:rPr kumimoji="0" lang="en-US" sz="1700" i="0" u="none" strike="noStrike" kern="0" cap="none" spc="0" normalizeH="0" baseline="0" noProof="0" dirty="0">
                <a:ln>
                  <a:noFill/>
                </a:ln>
                <a:solidFill>
                  <a:srgbClr val="000000"/>
                </a:solidFill>
                <a:effectLst/>
                <a:uLnTx/>
                <a:uFillTx/>
                <a:latin typeface="Arial"/>
                <a:cs typeface="Arial"/>
                <a:sym typeface="Arial"/>
              </a:rPr>
              <a:t>Should GARDP invest in manufacturing (by financially supporting some generic companies) to ensure regional security of supply of affordable and quality assured antibiotics with regard to generic products? </a:t>
            </a:r>
          </a:p>
          <a:p>
            <a:pPr marL="892175" indent="-285750">
              <a:lnSpc>
                <a:spcPct val="100000"/>
              </a:lnSpc>
              <a:spcBef>
                <a:spcPts val="900"/>
              </a:spcBef>
              <a:buClr>
                <a:srgbClr val="0B6377"/>
              </a:buClr>
              <a:buSzPct val="80000"/>
              <a:buFont typeface="Wingdings" panose="05000000000000000000" pitchFamily="2" charset="2"/>
              <a:buChar char="ü"/>
              <a:defRPr/>
            </a:pPr>
            <a:r>
              <a:rPr kumimoji="0" lang="en-US" sz="1700" i="0" u="none" strike="noStrike" kern="0" cap="none" spc="0" normalizeH="0" baseline="0" noProof="0" dirty="0">
                <a:ln>
                  <a:noFill/>
                </a:ln>
                <a:solidFill>
                  <a:srgbClr val="000000"/>
                </a:solidFill>
                <a:effectLst/>
                <a:uLnTx/>
                <a:uFillTx/>
                <a:latin typeface="Arial"/>
                <a:cs typeface="Arial"/>
                <a:sym typeface="Arial"/>
              </a:rPr>
              <a:t>What should GARDP's position be regarding generic products (part of our current / future portfolio)?</a:t>
            </a:r>
          </a:p>
        </p:txBody>
      </p:sp>
    </p:spTree>
    <p:extLst>
      <p:ext uri="{BB962C8B-B14F-4D97-AF65-F5344CB8AC3E}">
        <p14:creationId xmlns:p14="http://schemas.microsoft.com/office/powerpoint/2010/main" val="651280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245CB-8317-53FC-DDD8-92F42FEE7A3D}"/>
              </a:ext>
            </a:extLst>
          </p:cNvPr>
          <p:cNvSpPr txBox="1">
            <a:spLocks/>
          </p:cNvSpPr>
          <p:nvPr/>
        </p:nvSpPr>
        <p:spPr>
          <a:xfrm>
            <a:off x="607476" y="133883"/>
            <a:ext cx="10027866" cy="693640"/>
          </a:xfrm>
          <a:prstGeom prst="rect">
            <a:avLst/>
          </a:prstGeom>
          <a:noFill/>
          <a:ln>
            <a:noFill/>
          </a:ln>
        </p:spPr>
        <p:txBody>
          <a:bodyPr spcFirstLastPara="1" wrap="square" lIns="0"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0D202F"/>
              </a:buClr>
              <a:buSzPts val="3500"/>
              <a:buFont typeface="Arial"/>
              <a:buNone/>
              <a:defRPr sz="3500" b="1" i="0" u="none" strike="noStrike" cap="none">
                <a:solidFill>
                  <a:srgbClr val="0D202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D202F"/>
              </a:buClr>
              <a:buSzPts val="3500"/>
              <a:buFont typeface="Arial"/>
              <a:buNone/>
              <a:tabLst/>
              <a:defRPr/>
            </a:pPr>
            <a:r>
              <a:rPr kumimoji="0" lang="en-US" sz="3500" b="1" i="0" u="none" strike="noStrike" kern="0" cap="none" spc="0" normalizeH="0" baseline="0" noProof="0" dirty="0">
                <a:ln>
                  <a:noFill/>
                </a:ln>
                <a:solidFill>
                  <a:srgbClr val="0D202F"/>
                </a:solidFill>
                <a:effectLst/>
                <a:uLnTx/>
                <a:uFillTx/>
                <a:latin typeface="Arial"/>
                <a:cs typeface="Arial"/>
                <a:sym typeface="Arial"/>
              </a:rPr>
              <a:t>Why this topic is key for GARDP</a:t>
            </a:r>
          </a:p>
        </p:txBody>
      </p:sp>
      <p:cxnSp>
        <p:nvCxnSpPr>
          <p:cNvPr id="5" name="Straight Connector 4">
            <a:extLst>
              <a:ext uri="{FF2B5EF4-FFF2-40B4-BE49-F238E27FC236}">
                <a16:creationId xmlns:a16="http://schemas.microsoft.com/office/drawing/2014/main" id="{58637767-4B68-7AB7-D513-22AD29EC69C8}"/>
              </a:ext>
            </a:extLst>
          </p:cNvPr>
          <p:cNvCxnSpPr/>
          <p:nvPr/>
        </p:nvCxnSpPr>
        <p:spPr>
          <a:xfrm>
            <a:off x="641496" y="929576"/>
            <a:ext cx="3600000" cy="0"/>
          </a:xfrm>
          <a:prstGeom prst="line">
            <a:avLst/>
          </a:prstGeom>
          <a:ln w="19050">
            <a:solidFill>
              <a:srgbClr val="0B6377"/>
            </a:solidFill>
          </a:ln>
        </p:spPr>
        <p:style>
          <a:lnRef idx="1">
            <a:schemeClr val="accent1"/>
          </a:lnRef>
          <a:fillRef idx="0">
            <a:schemeClr val="accent1"/>
          </a:fillRef>
          <a:effectRef idx="0">
            <a:schemeClr val="accent1"/>
          </a:effectRef>
          <a:fontRef idx="minor">
            <a:schemeClr val="tx1"/>
          </a:fontRef>
        </p:style>
      </p:cxnSp>
      <p:sp>
        <p:nvSpPr>
          <p:cNvPr id="8" name="Espace réservé du texte 2">
            <a:extLst>
              <a:ext uri="{FF2B5EF4-FFF2-40B4-BE49-F238E27FC236}">
                <a16:creationId xmlns:a16="http://schemas.microsoft.com/office/drawing/2014/main" id="{EABB04A1-F13C-7DF1-6EBC-F1F655E8CCED}"/>
              </a:ext>
            </a:extLst>
          </p:cNvPr>
          <p:cNvSpPr txBox="1">
            <a:spLocks/>
          </p:cNvSpPr>
          <p:nvPr/>
        </p:nvSpPr>
        <p:spPr>
          <a:xfrm>
            <a:off x="711762" y="1412968"/>
            <a:ext cx="10774898" cy="4679213"/>
          </a:xfrm>
          <a:prstGeom prst="rect">
            <a:avLst/>
          </a:prstGeom>
          <a:solidFill>
            <a:schemeClr val="bg1">
              <a:lumMod val="95000"/>
            </a:schemeClr>
          </a:solidFill>
          <a:ln>
            <a:noFill/>
          </a:ln>
          <a:effectLst>
            <a:outerShdw blurRad="50800" dist="38100" dir="2700000" algn="tl" rotWithShape="0">
              <a:prstClr val="black">
                <a:alpha val="40000"/>
              </a:prstClr>
            </a:outerShdw>
          </a:effectLst>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189" marR="0" lvl="0" indent="-380990" algn="l" rtl="0">
              <a:lnSpc>
                <a:spcPct val="90000"/>
              </a:lnSpc>
              <a:spcBef>
                <a:spcPts val="1000"/>
              </a:spcBef>
              <a:spcAft>
                <a:spcPts val="0"/>
              </a:spcAft>
              <a:buClr>
                <a:srgbClr val="18A1AB"/>
              </a:buClr>
              <a:buSzPts val="2400"/>
              <a:buFont typeface="Arial"/>
              <a:buChar char="•"/>
              <a:defRPr sz="2400" b="0" i="0" u="none" strike="noStrike" cap="none">
                <a:solidFill>
                  <a:srgbClr val="18A1AB"/>
                </a:solidFill>
                <a:latin typeface="Arial"/>
                <a:ea typeface="Arial"/>
                <a:cs typeface="Arial"/>
                <a:sym typeface="Arial"/>
              </a:defRPr>
            </a:lvl1pPr>
            <a:lvl2pPr marL="914377" marR="0" lvl="1" indent="-342891"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566" marR="0" lvl="2" indent="-342891"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754" marR="0" lvl="3" indent="-342891"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5943" marR="0" lvl="4" indent="-342891"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131" marR="0" lvl="5" indent="-342891"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320" marR="0" lvl="6" indent="-342891"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509" marR="0" lvl="7" indent="-342891"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697" marR="0" lvl="8" indent="-342891"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628650" indent="-400050">
              <a:lnSpc>
                <a:spcPct val="100000"/>
              </a:lnSpc>
              <a:spcBef>
                <a:spcPts val="900"/>
              </a:spcBef>
              <a:buClr>
                <a:srgbClr val="000000"/>
              </a:buClr>
              <a:buSzPct val="100000"/>
              <a:buFont typeface="Wingdings" panose="05000000000000000000" pitchFamily="2" charset="2"/>
              <a:buChar char="ü"/>
              <a:defRPr/>
            </a:pPr>
            <a:r>
              <a:rPr lang="en-US" sz="1700" dirty="0">
                <a:solidFill>
                  <a:srgbClr val="000000"/>
                </a:solidFill>
              </a:rPr>
              <a:t>CMC activities play a vital role in the development of antibiotics by ensuring that the drug is manufactured safely, consistently, and at a high quality. They cover everything from raw materials and manufacturing processes to the final product’s stability and packaging, which are essential for regulatory approval and patient safety.</a:t>
            </a:r>
          </a:p>
          <a:p>
            <a:pPr marL="628650" indent="-400050">
              <a:lnSpc>
                <a:spcPct val="100000"/>
              </a:lnSpc>
              <a:spcBef>
                <a:spcPts val="900"/>
              </a:spcBef>
              <a:buClr>
                <a:srgbClr val="000000"/>
              </a:buClr>
              <a:buSzPct val="100000"/>
              <a:buFont typeface="Wingdings" panose="05000000000000000000" pitchFamily="2" charset="2"/>
              <a:buChar char="ü"/>
              <a:defRPr/>
            </a:pPr>
            <a:r>
              <a:rPr kumimoji="0" lang="en-US" sz="1700" i="0" u="none" strike="noStrike" kern="0" cap="none" spc="0" normalizeH="0" baseline="0" noProof="0" dirty="0">
                <a:ln>
                  <a:noFill/>
                </a:ln>
                <a:solidFill>
                  <a:srgbClr val="000000"/>
                </a:solidFill>
                <a:effectLst/>
                <a:uLnTx/>
                <a:uFillTx/>
                <a:latin typeface="Arial"/>
                <a:cs typeface="Arial"/>
                <a:sym typeface="Arial"/>
              </a:rPr>
              <a:t>CMC issues in the development of antibiotics can lead to delays (e.g. </a:t>
            </a:r>
            <a:r>
              <a:rPr kumimoji="0" lang="en-US" sz="1700" i="0" u="none" strike="noStrike" kern="0" cap="none" spc="0" normalizeH="0" baseline="0" noProof="0" dirty="0" err="1">
                <a:ln>
                  <a:noFill/>
                </a:ln>
                <a:solidFill>
                  <a:srgbClr val="000000"/>
                </a:solidFill>
                <a:effectLst/>
                <a:uLnTx/>
                <a:uFillTx/>
                <a:latin typeface="Arial"/>
                <a:cs typeface="Arial"/>
                <a:sym typeface="Arial"/>
              </a:rPr>
              <a:t>Achaogen</a:t>
            </a:r>
            <a:r>
              <a:rPr kumimoji="0" lang="en-US" sz="1700" i="0" u="none" strike="noStrike" kern="0" cap="none" spc="0" normalizeH="0" baseline="0" noProof="0" dirty="0">
                <a:ln>
                  <a:noFill/>
                </a:ln>
                <a:solidFill>
                  <a:srgbClr val="000000"/>
                </a:solidFill>
                <a:effectLst/>
                <a:uLnTx/>
                <a:uFillTx/>
                <a:latin typeface="Arial"/>
                <a:cs typeface="Arial"/>
                <a:sym typeface="Arial"/>
              </a:rPr>
              <a:t>, </a:t>
            </a:r>
            <a:r>
              <a:rPr kumimoji="0" lang="en-US" sz="1700" i="0" u="none" strike="noStrike" kern="0" cap="none" spc="0" normalizeH="0" baseline="0" noProof="0" dirty="0" err="1">
                <a:ln>
                  <a:noFill/>
                </a:ln>
                <a:solidFill>
                  <a:srgbClr val="000000"/>
                </a:solidFill>
                <a:effectLst/>
                <a:uLnTx/>
                <a:uFillTx/>
                <a:latin typeface="Arial"/>
                <a:cs typeface="Arial"/>
                <a:sym typeface="Arial"/>
              </a:rPr>
              <a:t>VenatoRx</a:t>
            </a:r>
            <a:r>
              <a:rPr kumimoji="0" lang="en-US" sz="1700" i="0" u="none" strike="noStrike" kern="0" cap="none" spc="0" normalizeH="0" baseline="0" noProof="0" dirty="0">
                <a:ln>
                  <a:noFill/>
                </a:ln>
                <a:solidFill>
                  <a:srgbClr val="000000"/>
                </a:solidFill>
                <a:effectLst/>
                <a:uLnTx/>
                <a:uFillTx/>
                <a:latin typeface="Arial"/>
                <a:cs typeface="Arial"/>
                <a:sym typeface="Arial"/>
              </a:rPr>
              <a:t>), recalls, and, in some cases, product failure. Problems with contamination, stability, quality control, and manufacturing consistency are all examples of how CMC failures can hinder the development and market success of antibiotics. </a:t>
            </a:r>
          </a:p>
          <a:p>
            <a:pPr marL="628650" indent="-400050">
              <a:lnSpc>
                <a:spcPct val="100000"/>
              </a:lnSpc>
              <a:spcBef>
                <a:spcPts val="900"/>
              </a:spcBef>
              <a:buClr>
                <a:srgbClr val="000000"/>
              </a:buClr>
              <a:buSzPct val="100000"/>
              <a:buFont typeface="Wingdings" panose="05000000000000000000" pitchFamily="2" charset="2"/>
              <a:buChar char="ü"/>
              <a:defRPr/>
            </a:pPr>
            <a:r>
              <a:rPr lang="en-US" sz="1700" dirty="0">
                <a:solidFill>
                  <a:srgbClr val="000000"/>
                </a:solidFill>
              </a:rPr>
              <a:t>This justifies the need for GARDP to be closely involved from the outset in CMC activities during product development of new antibiotic (e.g. the </a:t>
            </a:r>
            <a:r>
              <a:rPr lang="en-US" sz="1700" dirty="0" err="1">
                <a:solidFill>
                  <a:srgbClr val="000000"/>
                </a:solidFill>
              </a:rPr>
              <a:t>Bugworks</a:t>
            </a:r>
            <a:r>
              <a:rPr lang="en-US" sz="1700" dirty="0">
                <a:solidFill>
                  <a:srgbClr val="000000"/>
                </a:solidFill>
              </a:rPr>
              <a:t> project).</a:t>
            </a:r>
          </a:p>
          <a:p>
            <a:pPr marL="628650" indent="-400050">
              <a:lnSpc>
                <a:spcPct val="100000"/>
              </a:lnSpc>
              <a:spcBef>
                <a:spcPts val="900"/>
              </a:spcBef>
              <a:buClr>
                <a:srgbClr val="000000"/>
              </a:buClr>
              <a:buSzPct val="100000"/>
              <a:buFont typeface="Wingdings" panose="05000000000000000000" pitchFamily="2" charset="2"/>
              <a:buChar char="ü"/>
              <a:defRPr/>
            </a:pPr>
            <a:r>
              <a:rPr lang="en-US" sz="1700" dirty="0">
                <a:solidFill>
                  <a:srgbClr val="000000"/>
                </a:solidFill>
              </a:rPr>
              <a:t>But the question of whether GARDP should</a:t>
            </a:r>
            <a:r>
              <a:rPr lang="en-CH" sz="1700" dirty="0">
                <a:solidFill>
                  <a:srgbClr val="000000"/>
                </a:solidFill>
              </a:rPr>
              <a:t> financially</a:t>
            </a:r>
            <a:r>
              <a:rPr lang="en-US" sz="1700" dirty="0">
                <a:solidFill>
                  <a:srgbClr val="000000"/>
                </a:solidFill>
              </a:rPr>
              <a:t> ‘invest’ in generic antibiotic manufacturing capacity remains open. Even if investment is essential to ensure an affordable, regular and high quality supply of these essential medicines, to limit drug shortages, to promote global health security, and to support the wider healthcare infrastructure, is this still GARDP's mission? And what should GARDP's strategy be in this respect?</a:t>
            </a:r>
          </a:p>
        </p:txBody>
      </p:sp>
    </p:spTree>
    <p:extLst>
      <p:ext uri="{BB962C8B-B14F-4D97-AF65-F5344CB8AC3E}">
        <p14:creationId xmlns:p14="http://schemas.microsoft.com/office/powerpoint/2010/main" val="1546793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9">
            <a:extLst>
              <a:ext uri="{FF2B5EF4-FFF2-40B4-BE49-F238E27FC236}">
                <a16:creationId xmlns:a16="http://schemas.microsoft.com/office/drawing/2014/main" id="{6D693A2F-197A-4944-8164-56AA507DCACA}"/>
              </a:ext>
            </a:extLst>
          </p:cNvPr>
          <p:cNvSpPr txBox="1">
            <a:spLocks/>
          </p:cNvSpPr>
          <p:nvPr/>
        </p:nvSpPr>
        <p:spPr>
          <a:xfrm>
            <a:off x="11591474" y="6528004"/>
            <a:ext cx="562915" cy="303274"/>
          </a:xfrm>
          <a:prstGeom prst="rect">
            <a:avLst/>
          </a:prstGeom>
          <a:noFill/>
          <a:ln>
            <a:no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spcFirstLastPara="1" wrap="square" lIns="45719" tIns="45719" rIns="45719" bIns="45719" anchor="t" anchorCtr="0">
            <a:noAutofit/>
          </a:bodyPr>
          <a:lstStyle>
            <a:defPPr marR="0" lvl="0" algn="l" rtl="0">
              <a:lnSpc>
                <a:spcPct val="100000"/>
              </a:lnSpc>
              <a:spcBef>
                <a:spcPts val="0"/>
              </a:spcBef>
              <a:spcAft>
                <a:spcPts val="0"/>
              </a:spcAft>
            </a:defPPr>
            <a:lvl1pPr marL="457200" marR="0" lvl="0" indent="-228600" algn="l" rtl="0" eaLnBrk="1" hangingPunct="1">
              <a:lnSpc>
                <a:spcPct val="90000"/>
              </a:lnSpc>
              <a:spcBef>
                <a:spcPts val="1000"/>
              </a:spcBef>
              <a:spcAft>
                <a:spcPts val="0"/>
              </a:spcAft>
              <a:buClr>
                <a:srgbClr val="18A1AB"/>
              </a:buClr>
              <a:buSzPts val="2400"/>
              <a:buFont typeface="Arial"/>
              <a:buNone/>
              <a:defRPr sz="1000" b="0" i="0" u="none" strike="noStrike" cap="none">
                <a:solidFill>
                  <a:srgbClr val="000000"/>
                </a:solidFill>
                <a:latin typeface="Arial"/>
                <a:ea typeface="Arial"/>
                <a:cs typeface="Arial"/>
                <a:sym typeface="Arial"/>
              </a:defRPr>
            </a:lvl1pPr>
            <a:lvl2pPr marL="914400" marR="0" lvl="1"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marL="457200" marR="0" lvl="0" indent="-228600" algn="ctr" defTabSz="914400" rtl="0" eaLnBrk="1" fontAlgn="auto" latinLnBrk="0" hangingPunct="1">
              <a:lnSpc>
                <a:spcPct val="90000"/>
              </a:lnSpc>
              <a:spcBef>
                <a:spcPts val="1000"/>
              </a:spcBef>
              <a:spcAft>
                <a:spcPts val="0"/>
              </a:spcAft>
              <a:buClr>
                <a:srgbClr val="18A1AB"/>
              </a:buClr>
              <a:buSzPts val="2400"/>
              <a:buFont typeface="Arial"/>
              <a:buNone/>
              <a:tabLst/>
              <a:defRPr/>
            </a:pPr>
            <a:fld id="{86CB4B4D-7CA3-9044-876B-883B54F8677D}" type="slidenum">
              <a:rPr kumimoji="0" lang="en-GB" sz="800" b="0" i="0" u="none" strike="noStrike" kern="0" cap="none" spc="0" normalizeH="0" baseline="0" noProof="0" smtClean="0">
                <a:ln>
                  <a:noFill/>
                </a:ln>
                <a:solidFill>
                  <a:srgbClr val="000000"/>
                </a:solidFill>
                <a:effectLst/>
                <a:uLnTx/>
                <a:uFillTx/>
                <a:latin typeface="Arial"/>
                <a:cs typeface="Arial"/>
                <a:sym typeface="Arial"/>
              </a:rPr>
              <a:pPr marL="457200" marR="0" lvl="0" indent="-228600" algn="ctr" defTabSz="914400" rtl="0" eaLnBrk="1" fontAlgn="auto" latinLnBrk="0" hangingPunct="1">
                <a:lnSpc>
                  <a:spcPct val="90000"/>
                </a:lnSpc>
                <a:spcBef>
                  <a:spcPts val="1000"/>
                </a:spcBef>
                <a:spcAft>
                  <a:spcPts val="0"/>
                </a:spcAft>
                <a:buClr>
                  <a:srgbClr val="18A1AB"/>
                </a:buClr>
                <a:buSzPts val="2400"/>
                <a:buFont typeface="Arial"/>
                <a:buNone/>
                <a:tabLst/>
                <a:defRPr/>
              </a:pPr>
              <a:t>4</a:t>
            </a:fld>
            <a:endParaRPr kumimoji="0" lang="en-GB" sz="8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 name="Straight Connector 1">
            <a:extLst>
              <a:ext uri="{FF2B5EF4-FFF2-40B4-BE49-F238E27FC236}">
                <a16:creationId xmlns:a16="http://schemas.microsoft.com/office/drawing/2014/main" id="{DA4F0FC3-A77B-B0FA-E587-9F88B0F50650}"/>
              </a:ext>
            </a:extLst>
          </p:cNvPr>
          <p:cNvCxnSpPr/>
          <p:nvPr/>
        </p:nvCxnSpPr>
        <p:spPr>
          <a:xfrm>
            <a:off x="607860" y="980168"/>
            <a:ext cx="3600000" cy="0"/>
          </a:xfrm>
          <a:prstGeom prst="line">
            <a:avLst/>
          </a:prstGeom>
          <a:ln w="19050">
            <a:solidFill>
              <a:srgbClr val="0B6377"/>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56C28AFF-9D81-D83C-E074-C66988973DCC}"/>
              </a:ext>
            </a:extLst>
          </p:cNvPr>
          <p:cNvSpPr txBox="1">
            <a:spLocks/>
          </p:cNvSpPr>
          <p:nvPr/>
        </p:nvSpPr>
        <p:spPr>
          <a:xfrm>
            <a:off x="495299" y="302897"/>
            <a:ext cx="11522530" cy="5170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eaLnBrk="1" hangingPunct="1">
              <a:lnSpc>
                <a:spcPct val="90000"/>
              </a:lnSpc>
              <a:spcBef>
                <a:spcPts val="0"/>
              </a:spcBef>
              <a:spcAft>
                <a:spcPts val="0"/>
              </a:spcAft>
              <a:buClr>
                <a:srgbClr val="0D202F"/>
              </a:buClr>
              <a:buSzPts val="3500"/>
              <a:buFont typeface="Arial"/>
              <a:buNone/>
              <a:defRPr sz="35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D202F"/>
              </a:buClr>
              <a:buSzPts val="3500"/>
              <a:buFont typeface="Arial"/>
              <a:buNone/>
              <a:tabLst/>
              <a:defRPr/>
            </a:pPr>
            <a:r>
              <a:rPr lang="en-US" sz="3200" b="1" dirty="0">
                <a:solidFill>
                  <a:srgbClr val="0D202F"/>
                </a:solidFill>
              </a:rPr>
              <a:t>Potential approaches to impact on manufacturing</a:t>
            </a:r>
            <a:endParaRPr kumimoji="0" lang="en-GB" sz="3200" b="1" i="0" u="none" strike="sngStrike" kern="0" cap="none" spc="0" normalizeH="0" noProof="0" dirty="0">
              <a:ln>
                <a:noFill/>
              </a:ln>
              <a:solidFill>
                <a:srgbClr val="000000"/>
              </a:solidFill>
              <a:effectLst/>
              <a:uLnTx/>
              <a:uFillTx/>
              <a:latin typeface="Arial"/>
              <a:cs typeface="Arial"/>
              <a:sym typeface="Arial"/>
            </a:endParaRPr>
          </a:p>
        </p:txBody>
      </p:sp>
      <p:sp>
        <p:nvSpPr>
          <p:cNvPr id="4" name="TextBox 3">
            <a:extLst>
              <a:ext uri="{FF2B5EF4-FFF2-40B4-BE49-F238E27FC236}">
                <a16:creationId xmlns:a16="http://schemas.microsoft.com/office/drawing/2014/main" id="{04A54EAF-BDD2-957E-09DB-48C0648E876C}"/>
              </a:ext>
            </a:extLst>
          </p:cNvPr>
          <p:cNvSpPr txBox="1"/>
          <p:nvPr/>
        </p:nvSpPr>
        <p:spPr>
          <a:xfrm>
            <a:off x="173773" y="1891754"/>
            <a:ext cx="4393321" cy="4303305"/>
          </a:xfrm>
          <a:prstGeom prst="rect">
            <a:avLst/>
          </a:prstGeom>
          <a:noFill/>
        </p:spPr>
        <p:txBody>
          <a:bodyPr wrap="square">
            <a:noAutofit/>
          </a:bodyPr>
          <a:lstStyle/>
          <a:p>
            <a:pPr marL="285750" marR="0" lvl="0" indent="-285750" algn="l" defTabSz="914400" rtl="0" eaLnBrk="1" fontAlgn="base" latinLnBrk="0" hangingPunct="1">
              <a:lnSpc>
                <a:spcPct val="100000"/>
              </a:lnSpc>
              <a:spcBef>
                <a:spcPts val="0"/>
              </a:spcBef>
              <a:spcAft>
                <a:spcPts val="100"/>
              </a:spcAft>
              <a:buClr>
                <a:srgbClr val="000000"/>
              </a:buClr>
              <a:buSzTx/>
              <a:buFont typeface="Arial" panose="020B0604020202020204" pitchFamily="34" charset="0"/>
              <a:buChar char="•"/>
              <a:tabLst/>
              <a:defRPr/>
            </a:pPr>
            <a:r>
              <a:rPr lang="en-US" sz="1500" u="sng" dirty="0"/>
              <a:t>Option A</a:t>
            </a:r>
            <a:r>
              <a:rPr lang="en-US" sz="1500" dirty="0"/>
              <a:t>:  </a:t>
            </a:r>
            <a:r>
              <a:rPr lang="en-US" sz="1500" b="1" dirty="0"/>
              <a:t>Limit our activities</a:t>
            </a:r>
            <a:r>
              <a:rPr lang="en-CH" sz="1500" b="1" dirty="0"/>
              <a:t> and not include financial investment</a:t>
            </a:r>
            <a:r>
              <a:rPr lang="en-US" sz="1500" b="1" dirty="0"/>
              <a:t> </a:t>
            </a:r>
            <a:r>
              <a:rPr lang="en-US" sz="1500" dirty="0"/>
              <a:t>- Define the list of activities that GARDP may propose to manufacturers to improve the enabling environment &amp; market conditions for antibiotics, and don’t go beyond this list</a:t>
            </a:r>
          </a:p>
          <a:p>
            <a:pPr marL="536575" marR="0" lvl="1" indent="-179388" algn="l" defTabSz="914400" rtl="0" eaLnBrk="1" fontAlgn="base"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US" sz="1500" b="0" i="0" u="none" strike="noStrike" kern="0" cap="none" spc="0" normalizeH="0" baseline="0" noProof="0" dirty="0">
                <a:ln>
                  <a:noFill/>
                </a:ln>
                <a:effectLst/>
                <a:uLnTx/>
                <a:uFillTx/>
                <a:latin typeface="Arial"/>
                <a:cs typeface="Arial"/>
                <a:sym typeface="Arial"/>
              </a:rPr>
              <a:t>Technical Assistance</a:t>
            </a:r>
            <a:r>
              <a:rPr kumimoji="0" lang="en-CH" sz="1500" b="0" i="0" u="none" strike="noStrike" kern="0" cap="none" spc="0" normalizeH="0" baseline="0" noProof="0" dirty="0">
                <a:ln>
                  <a:noFill/>
                </a:ln>
                <a:effectLst/>
                <a:uLnTx/>
                <a:uFillTx/>
                <a:latin typeface="Arial"/>
                <a:cs typeface="Arial"/>
                <a:sym typeface="Arial"/>
              </a:rPr>
              <a:t> (including via external partners like USP)</a:t>
            </a:r>
            <a:r>
              <a:rPr kumimoji="0" lang="en-US" sz="1500" b="0" i="0" u="none" strike="noStrike" kern="0" cap="none" spc="0" normalizeH="0" baseline="0" noProof="0" dirty="0">
                <a:ln>
                  <a:noFill/>
                </a:ln>
                <a:effectLst/>
                <a:uLnTx/>
                <a:uFillTx/>
                <a:latin typeface="Arial"/>
                <a:cs typeface="Arial"/>
                <a:sym typeface="Arial"/>
              </a:rPr>
              <a:t> support </a:t>
            </a:r>
            <a:r>
              <a:rPr lang="en-CH" sz="1500" dirty="0"/>
              <a:t>to upgrade quality of manufacture to meet GARDP standards</a:t>
            </a:r>
            <a:endParaRPr kumimoji="0" lang="en-US" sz="1500" b="0" i="0" u="none" strike="noStrike" kern="0" cap="none" spc="0" normalizeH="0" baseline="0" noProof="0" dirty="0">
              <a:ln>
                <a:noFill/>
              </a:ln>
              <a:effectLst/>
              <a:uLnTx/>
              <a:uFillTx/>
              <a:latin typeface="Arial"/>
              <a:cs typeface="Arial"/>
              <a:sym typeface="Arial"/>
            </a:endParaRPr>
          </a:p>
          <a:p>
            <a:pPr marL="536575" marR="0" lvl="1" indent="-179388" algn="l" defTabSz="914400" rtl="0" eaLnBrk="1" fontAlgn="base"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US" sz="1500" b="0" i="0" u="none" strike="noStrike" kern="0" cap="none" spc="0" normalizeH="0" baseline="0" noProof="0" dirty="0">
                <a:ln>
                  <a:noFill/>
                </a:ln>
                <a:effectLst/>
                <a:uLnTx/>
                <a:uFillTx/>
                <a:latin typeface="Arial"/>
                <a:cs typeface="Arial"/>
                <a:sym typeface="Arial"/>
              </a:rPr>
              <a:t>Strengthen demand forecast estimates</a:t>
            </a:r>
            <a:endParaRPr kumimoji="0" lang="en-CH" sz="1500" b="0" i="0" u="none" strike="noStrike" kern="0" cap="none" spc="0" normalizeH="0" baseline="0" noProof="0" dirty="0">
              <a:ln>
                <a:noFill/>
              </a:ln>
              <a:effectLst/>
              <a:uLnTx/>
              <a:uFillTx/>
              <a:latin typeface="Arial"/>
              <a:cs typeface="Arial"/>
              <a:sym typeface="Arial"/>
            </a:endParaRPr>
          </a:p>
          <a:p>
            <a:pPr marL="536575" marR="0" lvl="1" indent="-179388" algn="l" defTabSz="914400" rtl="0" eaLnBrk="1" fontAlgn="base" latinLnBrk="0" hangingPunct="1">
              <a:lnSpc>
                <a:spcPct val="100000"/>
              </a:lnSpc>
              <a:spcBef>
                <a:spcPts val="0"/>
              </a:spcBef>
              <a:spcAft>
                <a:spcPts val="100"/>
              </a:spcAft>
              <a:buClr>
                <a:srgbClr val="000000"/>
              </a:buClr>
              <a:buSzTx/>
              <a:buFont typeface="Arial" panose="020B0604020202020204" pitchFamily="34" charset="0"/>
              <a:buChar char="-"/>
              <a:tabLst/>
              <a:defRPr/>
            </a:pPr>
            <a:r>
              <a:rPr lang="en-CH" sz="1500" dirty="0"/>
              <a:t>Consider PQ</a:t>
            </a:r>
            <a:endParaRPr kumimoji="0" lang="en-US" sz="1500" b="0" i="0" u="none" strike="noStrike" kern="0" cap="none" spc="0" normalizeH="0" baseline="0" noProof="0" dirty="0">
              <a:ln>
                <a:noFill/>
              </a:ln>
              <a:effectLst/>
              <a:uLnTx/>
              <a:uFillTx/>
              <a:latin typeface="Arial"/>
              <a:cs typeface="Arial"/>
              <a:sym typeface="Arial"/>
            </a:endParaRPr>
          </a:p>
          <a:p>
            <a:pPr marL="536575" lvl="1" indent="-179388" fontAlgn="base">
              <a:spcAft>
                <a:spcPts val="100"/>
              </a:spcAft>
              <a:buFont typeface="Arial" panose="020B0604020202020204" pitchFamily="34" charset="0"/>
              <a:buChar char="-"/>
              <a:defRPr/>
            </a:pPr>
            <a:r>
              <a:rPr lang="en-CH" sz="1500" dirty="0"/>
              <a:t>Work with a partner (e.g. MedAccess or Gates to b</a:t>
            </a:r>
            <a:r>
              <a:rPr kumimoji="0" lang="en-US" sz="1500" b="0" i="0" u="none" strike="noStrike" kern="0" cap="none" spc="0" normalizeH="0" baseline="0" noProof="0" dirty="0">
                <a:ln>
                  <a:noFill/>
                </a:ln>
                <a:effectLst/>
                <a:uLnTx/>
                <a:uFillTx/>
                <a:latin typeface="Arial"/>
                <a:cs typeface="Arial"/>
                <a:sym typeface="Arial"/>
              </a:rPr>
              <a:t>ack a volume guarantee</a:t>
            </a:r>
          </a:p>
          <a:p>
            <a:pPr marL="536575" marR="0" lvl="1" indent="-179388" algn="l" defTabSz="914400" rtl="0" eaLnBrk="1" fontAlgn="base"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US" sz="1500" b="0" i="0" u="none" strike="noStrike" kern="0" cap="none" spc="0" normalizeH="0" baseline="0" noProof="0" dirty="0">
                <a:ln>
                  <a:noFill/>
                </a:ln>
                <a:effectLst/>
                <a:uLnTx/>
                <a:uFillTx/>
                <a:latin typeface="Arial"/>
                <a:cs typeface="Arial"/>
                <a:sym typeface="Arial"/>
              </a:rPr>
              <a:t>Buy down to directly lower purchase price of generic products which are part of GARDP portfolio</a:t>
            </a:r>
            <a:r>
              <a:rPr kumimoji="0" lang="en-CH" sz="1500" b="0" i="0" u="none" strike="noStrike" kern="0" cap="none" spc="0" normalizeH="0" baseline="0" noProof="0" dirty="0">
                <a:ln>
                  <a:noFill/>
                </a:ln>
                <a:effectLst/>
                <a:uLnTx/>
                <a:uFillTx/>
                <a:latin typeface="Arial"/>
                <a:cs typeface="Arial"/>
                <a:sym typeface="Arial"/>
              </a:rPr>
              <a:t>(only if there is a bridge to a lower sustainable and non-subsidized price)</a:t>
            </a:r>
            <a:r>
              <a:rPr lang="en-US" sz="1500" dirty="0"/>
              <a:t>…</a:t>
            </a:r>
            <a:endParaRPr kumimoji="0" lang="en-US" sz="1500" b="0" i="0" u="none" strike="noStrike" kern="0" cap="none" spc="0" normalizeH="0" baseline="0" noProof="0" dirty="0">
              <a:ln>
                <a:noFill/>
              </a:ln>
              <a:effectLst/>
              <a:uLnTx/>
              <a:uFillTx/>
              <a:latin typeface="Arial"/>
              <a:cs typeface="Arial"/>
              <a:sym typeface="Arial"/>
            </a:endParaRPr>
          </a:p>
        </p:txBody>
      </p:sp>
      <p:sp>
        <p:nvSpPr>
          <p:cNvPr id="7" name="TextBox 6">
            <a:extLst>
              <a:ext uri="{FF2B5EF4-FFF2-40B4-BE49-F238E27FC236}">
                <a16:creationId xmlns:a16="http://schemas.microsoft.com/office/drawing/2014/main" id="{9AB6475B-338C-75E9-42AA-5FFFFC86C0DD}"/>
              </a:ext>
            </a:extLst>
          </p:cNvPr>
          <p:cNvSpPr txBox="1"/>
          <p:nvPr/>
        </p:nvSpPr>
        <p:spPr>
          <a:xfrm>
            <a:off x="7887790" y="1891753"/>
            <a:ext cx="4266598" cy="4200437"/>
          </a:xfrm>
          <a:prstGeom prst="rect">
            <a:avLst/>
          </a:prstGeom>
          <a:solidFill>
            <a:schemeClr val="bg1"/>
          </a:solidFill>
        </p:spPr>
        <p:txBody>
          <a:bodyPr wrap="square">
            <a:noAutofit/>
          </a:bodyPr>
          <a:lstStyle/>
          <a:p>
            <a:pPr marL="285750" indent="-285750" fontAlgn="base">
              <a:spcAft>
                <a:spcPts val="300"/>
              </a:spcAft>
              <a:buFont typeface="Arial" panose="020B0604020202020204" pitchFamily="34" charset="0"/>
              <a:buChar char="•"/>
              <a:defRPr/>
            </a:pPr>
            <a:r>
              <a:rPr lang="en-US" sz="1500" u="sng" dirty="0"/>
              <a:t>Option </a:t>
            </a:r>
            <a:r>
              <a:rPr lang="en-CH" sz="1500" u="sng" dirty="0"/>
              <a:t>C</a:t>
            </a:r>
            <a:r>
              <a:rPr lang="en-US" sz="1500" dirty="0"/>
              <a:t>: </a:t>
            </a:r>
            <a:r>
              <a:rPr lang="en-US" sz="1500" b="1" dirty="0"/>
              <a:t>Go far beyond what we are doing</a:t>
            </a:r>
            <a:r>
              <a:rPr lang="en-US" sz="1500" dirty="0"/>
              <a:t> - Be more engaged on this topic and to create / actively support the creation of a NFP manufacturer (or a </a:t>
            </a:r>
            <a:r>
              <a:rPr lang="en-US" sz="1500" dirty="0" err="1"/>
              <a:t>Civicax</a:t>
            </a:r>
            <a:r>
              <a:rPr lang="en-US" sz="1500" dirty="0"/>
              <a:t> Rx like organization) </a:t>
            </a:r>
            <a:endParaRPr kumimoji="0" lang="en-US" sz="1500" b="0" i="0" u="none" strike="noStrike" kern="0" cap="none" spc="0" normalizeH="0" baseline="0" noProof="0" dirty="0">
              <a:ln>
                <a:noFill/>
              </a:ln>
              <a:effectLst/>
              <a:uLnTx/>
              <a:uFillTx/>
              <a:latin typeface="Arial" panose="020B0604020202020204"/>
              <a:cs typeface="Arial"/>
              <a:sym typeface="Arial"/>
            </a:endParaRPr>
          </a:p>
          <a:p>
            <a:pPr marL="642938" lvl="1" indent="-285750" fontAlgn="base">
              <a:spcAft>
                <a:spcPts val="300"/>
              </a:spcAft>
              <a:buFont typeface="Arial" panose="020B0604020202020204" pitchFamily="34" charset="0"/>
              <a:buChar char="-"/>
              <a:defRPr/>
            </a:pPr>
            <a:r>
              <a:rPr kumimoji="0" lang="en-US" sz="1500" b="0" i="0" u="none" strike="noStrike" kern="0" cap="none" spc="0" normalizeH="0" baseline="0" noProof="0" dirty="0">
                <a:ln>
                  <a:noFill/>
                </a:ln>
                <a:effectLst/>
                <a:uLnTx/>
                <a:uFillTx/>
                <a:latin typeface="+mj-lt"/>
                <a:cs typeface="Arial"/>
                <a:sym typeface="Arial"/>
              </a:rPr>
              <a:t>Should we </a:t>
            </a:r>
            <a:r>
              <a:rPr kumimoji="0" lang="en-US" sz="1500" b="0" i="0" u="none" strike="noStrike" kern="0" cap="none" spc="0" normalizeH="0" baseline="0" noProof="0" dirty="0" err="1">
                <a:ln>
                  <a:noFill/>
                </a:ln>
                <a:effectLst/>
                <a:uLnTx/>
                <a:uFillTx/>
                <a:latin typeface="+mj-lt"/>
                <a:cs typeface="Arial"/>
                <a:sym typeface="Arial"/>
              </a:rPr>
              <a:t>analyse</a:t>
            </a:r>
            <a:r>
              <a:rPr kumimoji="0" lang="en-US" sz="1500" b="0" i="0" u="none" strike="noStrike" kern="0" cap="none" spc="0" normalizeH="0" baseline="0" noProof="0" dirty="0">
                <a:ln>
                  <a:noFill/>
                </a:ln>
                <a:effectLst/>
                <a:uLnTx/>
                <a:uFillTx/>
                <a:latin typeface="+mj-lt"/>
                <a:cs typeface="Arial"/>
                <a:sym typeface="Arial"/>
              </a:rPr>
              <a:t> in more details the interest and feasibility of setting up a “NFP manufacturer" entity to manage this type of activity in certain regions? [“CMC platform” project as defined by </a:t>
            </a:r>
            <a:r>
              <a:rPr lang="en-US" sz="1500" dirty="0">
                <a:latin typeface="+mj-lt"/>
              </a:rPr>
              <a:t>DNDi CMC team¨]</a:t>
            </a:r>
            <a:endParaRPr lang="en-US" sz="1500" dirty="0"/>
          </a:p>
          <a:p>
            <a:pPr marL="642938" lvl="1" indent="-285750" fontAlgn="base">
              <a:spcAft>
                <a:spcPts val="300"/>
              </a:spcAft>
              <a:buFont typeface="Arial" panose="020B0604020202020204" pitchFamily="34" charset="0"/>
              <a:buChar char="-"/>
              <a:defRPr/>
            </a:pPr>
            <a:r>
              <a:rPr kumimoji="0" lang="en-US" sz="1500" b="0" i="0" u="none" strike="noStrike" kern="0" cap="none" spc="0" normalizeH="0" baseline="0" noProof="0" dirty="0">
                <a:ln>
                  <a:noFill/>
                </a:ln>
                <a:effectLst/>
                <a:uLnTx/>
                <a:uFillTx/>
                <a:latin typeface="+mj-lt"/>
                <a:cs typeface="Arial"/>
                <a:sym typeface="Arial"/>
              </a:rPr>
              <a:t>Should GARDP work closely with NPC (</a:t>
            </a:r>
            <a:r>
              <a:rPr kumimoji="0" lang="en-US" sz="1500" b="0" i="0" u="none" strike="noStrike" kern="0" cap="none" spc="0" normalizeH="0" baseline="0" noProof="0" dirty="0" err="1">
                <a:ln>
                  <a:noFill/>
                </a:ln>
                <a:effectLst/>
                <a:uLnTx/>
                <a:uFillTx/>
                <a:latin typeface="+mj-lt"/>
                <a:cs typeface="Arial"/>
                <a:sym typeface="Arial"/>
              </a:rPr>
              <a:t>NewPharmaCo</a:t>
            </a:r>
            <a:r>
              <a:rPr kumimoji="0" lang="en-US" sz="1500" b="0" i="0" u="none" strike="noStrike" kern="0" cap="none" spc="0" normalizeH="0" baseline="0" noProof="0" dirty="0">
                <a:ln>
                  <a:noFill/>
                </a:ln>
                <a:effectLst/>
                <a:uLnTx/>
                <a:uFillTx/>
                <a:latin typeface="+mj-lt"/>
                <a:cs typeface="Arial"/>
                <a:sym typeface="Arial"/>
              </a:rPr>
              <a:t> Africa) ? </a:t>
            </a:r>
            <a:r>
              <a:rPr kumimoji="0" lang="en-US" sz="1500" b="0" i="1" u="none" strike="noStrike" kern="0" cap="none" spc="0" normalizeH="0" baseline="0" noProof="0" dirty="0">
                <a:ln>
                  <a:noFill/>
                </a:ln>
                <a:effectLst/>
                <a:uLnTx/>
                <a:uFillTx/>
                <a:latin typeface="+mj-lt"/>
                <a:cs typeface="Arial"/>
                <a:sym typeface="Arial"/>
              </a:rPr>
              <a:t>Objective of NPC: provide access to high quality pharma products produced locally in Africa to reduce Africa’s dependence on foreign suppliers </a:t>
            </a:r>
          </a:p>
        </p:txBody>
      </p:sp>
      <p:cxnSp>
        <p:nvCxnSpPr>
          <p:cNvPr id="9" name="Straight Arrow Connector 8">
            <a:extLst>
              <a:ext uri="{FF2B5EF4-FFF2-40B4-BE49-F238E27FC236}">
                <a16:creationId xmlns:a16="http://schemas.microsoft.com/office/drawing/2014/main" id="{7CC5184F-429D-EDC3-47C3-3392ED41B7B1}"/>
              </a:ext>
            </a:extLst>
          </p:cNvPr>
          <p:cNvCxnSpPr/>
          <p:nvPr/>
        </p:nvCxnSpPr>
        <p:spPr>
          <a:xfrm>
            <a:off x="1131570" y="1440180"/>
            <a:ext cx="9841230"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4562D8EB-D9B6-0092-2780-43F09BF7AF0A}"/>
              </a:ext>
            </a:extLst>
          </p:cNvPr>
          <p:cNvCxnSpPr/>
          <p:nvPr/>
        </p:nvCxnSpPr>
        <p:spPr>
          <a:xfrm>
            <a:off x="2811780" y="1223010"/>
            <a:ext cx="0" cy="342900"/>
          </a:xfrm>
          <a:prstGeom prst="line">
            <a:avLst/>
          </a:prstGeom>
        </p:spPr>
        <p:style>
          <a:lnRef idx="1">
            <a:schemeClr val="accent2"/>
          </a:lnRef>
          <a:fillRef idx="0">
            <a:schemeClr val="accent2"/>
          </a:fillRef>
          <a:effectRef idx="0">
            <a:schemeClr val="accent2"/>
          </a:effectRef>
          <a:fontRef idx="minor">
            <a:schemeClr val="tx1"/>
          </a:fontRef>
        </p:style>
      </p:cxnSp>
      <p:cxnSp>
        <p:nvCxnSpPr>
          <p:cNvPr id="12" name="Straight Connector 11">
            <a:extLst>
              <a:ext uri="{FF2B5EF4-FFF2-40B4-BE49-F238E27FC236}">
                <a16:creationId xmlns:a16="http://schemas.microsoft.com/office/drawing/2014/main" id="{CA517ACD-58AF-3138-BB75-849604BA2DCC}"/>
              </a:ext>
            </a:extLst>
          </p:cNvPr>
          <p:cNvCxnSpPr/>
          <p:nvPr/>
        </p:nvCxnSpPr>
        <p:spPr>
          <a:xfrm>
            <a:off x="8930640" y="1245870"/>
            <a:ext cx="0" cy="342900"/>
          </a:xfrm>
          <a:prstGeom prst="line">
            <a:avLst/>
          </a:prstGeom>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B08C603F-541D-6987-6C5D-512B94433656}"/>
              </a:ext>
            </a:extLst>
          </p:cNvPr>
          <p:cNvCxnSpPr/>
          <p:nvPr/>
        </p:nvCxnSpPr>
        <p:spPr>
          <a:xfrm>
            <a:off x="5916930" y="1234440"/>
            <a:ext cx="0" cy="342900"/>
          </a:xfrm>
          <a:prstGeom prst="line">
            <a:avLst/>
          </a:prstGeom>
        </p:spPr>
        <p:style>
          <a:lnRef idx="1">
            <a:schemeClr val="accent2"/>
          </a:lnRef>
          <a:fillRef idx="0">
            <a:schemeClr val="accent2"/>
          </a:fillRef>
          <a:effectRef idx="0">
            <a:schemeClr val="accent2"/>
          </a:effectRef>
          <a:fontRef idx="minor">
            <a:schemeClr val="tx1"/>
          </a:fontRef>
        </p:style>
      </p:cxnSp>
      <p:sp>
        <p:nvSpPr>
          <p:cNvPr id="6" name="TextBox 5">
            <a:extLst>
              <a:ext uri="{FF2B5EF4-FFF2-40B4-BE49-F238E27FC236}">
                <a16:creationId xmlns:a16="http://schemas.microsoft.com/office/drawing/2014/main" id="{8709B3BA-BBFC-3A2F-C85D-EAB0074BF7CB}"/>
              </a:ext>
            </a:extLst>
          </p:cNvPr>
          <p:cNvSpPr txBox="1"/>
          <p:nvPr/>
        </p:nvSpPr>
        <p:spPr>
          <a:xfrm>
            <a:off x="4567100" y="1891754"/>
            <a:ext cx="3431529" cy="3514627"/>
          </a:xfrm>
          <a:prstGeom prst="rect">
            <a:avLst/>
          </a:prstGeom>
          <a:solidFill>
            <a:schemeClr val="bg1">
              <a:lumMod val="95000"/>
            </a:schemeClr>
          </a:solidFill>
        </p:spPr>
        <p:txBody>
          <a:bodyPr wrap="square">
            <a:noAutofit/>
          </a:bodyPr>
          <a:lstStyle/>
          <a:p>
            <a:pPr marL="285750" indent="-285750" fontAlgn="base">
              <a:spcAft>
                <a:spcPts val="300"/>
              </a:spcAft>
              <a:buFont typeface="Arial" panose="020B0604020202020204" pitchFamily="34" charset="0"/>
              <a:buChar char="•"/>
              <a:defRPr/>
            </a:pPr>
            <a:r>
              <a:rPr lang="en-US" sz="1500" u="sng" dirty="0"/>
              <a:t>Option B</a:t>
            </a:r>
            <a:r>
              <a:rPr lang="en-US" sz="1500" dirty="0"/>
              <a:t>: </a:t>
            </a:r>
            <a:r>
              <a:rPr lang="en-US" sz="1500" b="1" dirty="0"/>
              <a:t>C</a:t>
            </a:r>
            <a:r>
              <a:rPr lang="en-CH" sz="1500" b="1" dirty="0"/>
              <a:t>onsider additional financial incentives or investment</a:t>
            </a:r>
            <a:endParaRPr kumimoji="0" lang="en-US" sz="1500" b="1" i="0" u="none" strike="noStrike" kern="0" cap="none" spc="0" normalizeH="0" baseline="0" noProof="0" dirty="0">
              <a:ln>
                <a:noFill/>
              </a:ln>
              <a:effectLst/>
              <a:uLnTx/>
              <a:uFillTx/>
              <a:latin typeface="Arial" panose="020B0604020202020204"/>
              <a:cs typeface="Arial"/>
              <a:sym typeface="Arial"/>
            </a:endParaRPr>
          </a:p>
          <a:p>
            <a:pPr marL="642938" lvl="1" indent="-285750" fontAlgn="base">
              <a:spcAft>
                <a:spcPts val="300"/>
              </a:spcAft>
              <a:buFont typeface="Arial" panose="020B0604020202020204" pitchFamily="34" charset="0"/>
              <a:buChar char="-"/>
              <a:defRPr/>
            </a:pPr>
            <a:r>
              <a:rPr lang="en-CH" sz="1500" dirty="0">
                <a:latin typeface="+mj-lt"/>
              </a:rPr>
              <a:t>Offer </a:t>
            </a:r>
            <a:r>
              <a:rPr lang="en-CH" sz="1500" dirty="0" err="1">
                <a:latin typeface="+mj-lt"/>
              </a:rPr>
              <a:t>mileston</a:t>
            </a:r>
            <a:r>
              <a:rPr lang="en-US" sz="1500" dirty="0">
                <a:latin typeface="+mj-lt"/>
              </a:rPr>
              <a:t>e</a:t>
            </a:r>
            <a:r>
              <a:rPr lang="en-CH" sz="1500" dirty="0">
                <a:latin typeface="+mj-lt"/>
              </a:rPr>
              <a:t> prizes to suppliers willing to meet a set of criteria (quality assurance, </a:t>
            </a:r>
            <a:r>
              <a:rPr lang="en-CH" sz="1500" dirty="0" err="1">
                <a:latin typeface="+mj-lt"/>
              </a:rPr>
              <a:t>regis</a:t>
            </a:r>
            <a:r>
              <a:rPr lang="en-US" sz="1500" dirty="0">
                <a:latin typeface="+mj-lt"/>
              </a:rPr>
              <a:t>t</a:t>
            </a:r>
            <a:r>
              <a:rPr lang="en-CH" sz="1500" dirty="0">
                <a:latin typeface="+mj-lt"/>
              </a:rPr>
              <a:t>ration in GARDP priority countries, price)</a:t>
            </a:r>
          </a:p>
          <a:p>
            <a:pPr marL="642938" lvl="1" indent="-285750" fontAlgn="base">
              <a:spcAft>
                <a:spcPts val="300"/>
              </a:spcAft>
              <a:buFont typeface="Arial" panose="020B0604020202020204" pitchFamily="34" charset="0"/>
              <a:buChar char="-"/>
              <a:defRPr/>
            </a:pPr>
            <a:r>
              <a:rPr lang="en-CH" sz="1500" dirty="0">
                <a:latin typeface="+mj-lt"/>
              </a:rPr>
              <a:t>Issue an RFP for an investment with clear criteria</a:t>
            </a:r>
            <a:r>
              <a:rPr lang="en-US" sz="1500" dirty="0">
                <a:latin typeface="+mj-lt"/>
              </a:rPr>
              <a:t> (c</a:t>
            </a:r>
            <a:r>
              <a:rPr lang="en-CH" sz="1500" dirty="0">
                <a:latin typeface="+mj-lt"/>
              </a:rPr>
              <a:t>ontract will be designed around deliverable-based disbursements based on meeting QA, price etc...)</a:t>
            </a:r>
            <a:endParaRPr lang="en-US" sz="1500" dirty="0"/>
          </a:p>
        </p:txBody>
      </p:sp>
    </p:spTree>
    <p:extLst>
      <p:ext uri="{BB962C8B-B14F-4D97-AF65-F5344CB8AC3E}">
        <p14:creationId xmlns:p14="http://schemas.microsoft.com/office/powerpoint/2010/main" val="2717947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9">
            <a:extLst>
              <a:ext uri="{FF2B5EF4-FFF2-40B4-BE49-F238E27FC236}">
                <a16:creationId xmlns:a16="http://schemas.microsoft.com/office/drawing/2014/main" id="{6D693A2F-197A-4944-8164-56AA507DCACA}"/>
              </a:ext>
            </a:extLst>
          </p:cNvPr>
          <p:cNvSpPr txBox="1">
            <a:spLocks/>
          </p:cNvSpPr>
          <p:nvPr/>
        </p:nvSpPr>
        <p:spPr>
          <a:xfrm>
            <a:off x="11591474" y="6528004"/>
            <a:ext cx="562915" cy="303274"/>
          </a:xfrm>
          <a:prstGeom prst="rect">
            <a:avLst/>
          </a:prstGeom>
          <a:noFill/>
          <a:ln>
            <a:no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spcFirstLastPara="1" wrap="square" lIns="45719" tIns="45719" rIns="45719" bIns="45719" anchor="t" anchorCtr="0">
            <a:noAutofit/>
          </a:bodyPr>
          <a:lstStyle>
            <a:defPPr marR="0" lvl="0" algn="l" rtl="0">
              <a:lnSpc>
                <a:spcPct val="100000"/>
              </a:lnSpc>
              <a:spcBef>
                <a:spcPts val="0"/>
              </a:spcBef>
              <a:spcAft>
                <a:spcPts val="0"/>
              </a:spcAft>
            </a:defPPr>
            <a:lvl1pPr marL="457200" marR="0" lvl="0" indent="-228600" algn="l" rtl="0" eaLnBrk="1" hangingPunct="1">
              <a:lnSpc>
                <a:spcPct val="90000"/>
              </a:lnSpc>
              <a:spcBef>
                <a:spcPts val="1000"/>
              </a:spcBef>
              <a:spcAft>
                <a:spcPts val="0"/>
              </a:spcAft>
              <a:buClr>
                <a:srgbClr val="18A1AB"/>
              </a:buClr>
              <a:buSzPts val="2400"/>
              <a:buFont typeface="Arial"/>
              <a:buNone/>
              <a:defRPr sz="1000" b="0" i="0" u="none" strike="noStrike" cap="none">
                <a:solidFill>
                  <a:srgbClr val="000000"/>
                </a:solidFill>
                <a:latin typeface="Arial"/>
                <a:ea typeface="Arial"/>
                <a:cs typeface="Arial"/>
                <a:sym typeface="Arial"/>
              </a:defRPr>
            </a:lvl1pPr>
            <a:lvl2pPr marL="914400" marR="0" lvl="1"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marL="457200" marR="0" lvl="0" indent="-228600" algn="ctr" defTabSz="914400" rtl="0" eaLnBrk="1" fontAlgn="auto" latinLnBrk="0" hangingPunct="1">
              <a:lnSpc>
                <a:spcPct val="90000"/>
              </a:lnSpc>
              <a:spcBef>
                <a:spcPts val="1000"/>
              </a:spcBef>
              <a:spcAft>
                <a:spcPts val="0"/>
              </a:spcAft>
              <a:buClr>
                <a:srgbClr val="18A1AB"/>
              </a:buClr>
              <a:buSzPts val="2400"/>
              <a:buFont typeface="Arial"/>
              <a:buNone/>
              <a:tabLst/>
              <a:defRPr/>
            </a:pPr>
            <a:fld id="{86CB4B4D-7CA3-9044-876B-883B54F8677D}" type="slidenum">
              <a:rPr kumimoji="0" lang="en-GB" sz="800" b="0" i="0" u="none" strike="noStrike" kern="0" cap="none" spc="0" normalizeH="0" baseline="0" noProof="0" smtClean="0">
                <a:ln>
                  <a:noFill/>
                </a:ln>
                <a:solidFill>
                  <a:srgbClr val="000000"/>
                </a:solidFill>
                <a:effectLst/>
                <a:uLnTx/>
                <a:uFillTx/>
                <a:latin typeface="Arial"/>
                <a:cs typeface="Arial"/>
                <a:sym typeface="Arial"/>
              </a:rPr>
              <a:pPr marL="457200" marR="0" lvl="0" indent="-228600" algn="ctr" defTabSz="914400" rtl="0" eaLnBrk="1" fontAlgn="auto" latinLnBrk="0" hangingPunct="1">
                <a:lnSpc>
                  <a:spcPct val="90000"/>
                </a:lnSpc>
                <a:spcBef>
                  <a:spcPts val="1000"/>
                </a:spcBef>
                <a:spcAft>
                  <a:spcPts val="0"/>
                </a:spcAft>
                <a:buClr>
                  <a:srgbClr val="18A1AB"/>
                </a:buClr>
                <a:buSzPts val="2400"/>
                <a:buFont typeface="Arial"/>
                <a:buNone/>
                <a:tabLst/>
                <a:defRPr/>
              </a:pPr>
              <a:t>5</a:t>
            </a:fld>
            <a:endParaRPr kumimoji="0" lang="en-GB" sz="8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 name="Straight Connector 1">
            <a:extLst>
              <a:ext uri="{FF2B5EF4-FFF2-40B4-BE49-F238E27FC236}">
                <a16:creationId xmlns:a16="http://schemas.microsoft.com/office/drawing/2014/main" id="{DA4F0FC3-A77B-B0FA-E587-9F88B0F50650}"/>
              </a:ext>
            </a:extLst>
          </p:cNvPr>
          <p:cNvCxnSpPr/>
          <p:nvPr/>
        </p:nvCxnSpPr>
        <p:spPr>
          <a:xfrm>
            <a:off x="607860" y="980168"/>
            <a:ext cx="3600000" cy="0"/>
          </a:xfrm>
          <a:prstGeom prst="line">
            <a:avLst/>
          </a:prstGeom>
          <a:ln w="19050">
            <a:solidFill>
              <a:srgbClr val="0B6377"/>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56C28AFF-9D81-D83C-E074-C66988973DCC}"/>
              </a:ext>
            </a:extLst>
          </p:cNvPr>
          <p:cNvSpPr txBox="1">
            <a:spLocks/>
          </p:cNvSpPr>
          <p:nvPr/>
        </p:nvSpPr>
        <p:spPr>
          <a:xfrm>
            <a:off x="495299" y="302897"/>
            <a:ext cx="11522530" cy="5170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eaLnBrk="1" hangingPunct="1">
              <a:lnSpc>
                <a:spcPct val="90000"/>
              </a:lnSpc>
              <a:spcBef>
                <a:spcPts val="0"/>
              </a:spcBef>
              <a:spcAft>
                <a:spcPts val="0"/>
              </a:spcAft>
              <a:buClr>
                <a:srgbClr val="0D202F"/>
              </a:buClr>
              <a:buSzPts val="3500"/>
              <a:buFont typeface="Arial"/>
              <a:buNone/>
              <a:defRPr sz="35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D202F"/>
              </a:buClr>
              <a:buSzPts val="3500"/>
              <a:buFont typeface="Arial"/>
              <a:buNone/>
              <a:tabLst/>
              <a:defRPr/>
            </a:pPr>
            <a:r>
              <a:rPr kumimoji="0" lang="en-US" sz="3200" b="1" i="0" u="none" strike="noStrike" kern="0" cap="none" spc="0" normalizeH="0" baseline="0" noProof="0" dirty="0">
                <a:ln>
                  <a:noFill/>
                </a:ln>
                <a:solidFill>
                  <a:srgbClr val="000000"/>
                </a:solidFill>
                <a:effectLst/>
                <a:uLnTx/>
                <a:uFillTx/>
                <a:latin typeface="Arial"/>
                <a:cs typeface="Arial"/>
                <a:sym typeface="Arial"/>
              </a:rPr>
              <a:t>Potential investment on manufacturing: b</a:t>
            </a:r>
            <a:r>
              <a:rPr lang="en-GB" b="1" dirty="0" err="1">
                <a:solidFill>
                  <a:srgbClr val="0D202F"/>
                </a:solidFill>
              </a:rPr>
              <a:t>ackground</a:t>
            </a:r>
            <a:endParaRPr kumimoji="0" lang="en-GB" sz="3500" b="1" i="0" u="none" strike="noStrike" kern="0" cap="none" spc="0" normalizeH="0" baseline="0" noProof="0" dirty="0">
              <a:ln>
                <a:noFill/>
              </a:ln>
              <a:solidFill>
                <a:srgbClr val="000000"/>
              </a:solidFill>
              <a:effectLst/>
              <a:uLnTx/>
              <a:uFillTx/>
              <a:latin typeface="Arial"/>
              <a:cs typeface="Arial"/>
              <a:sym typeface="Arial"/>
            </a:endParaRPr>
          </a:p>
        </p:txBody>
      </p:sp>
      <p:sp>
        <p:nvSpPr>
          <p:cNvPr id="5" name="Text Placeholder 3">
            <a:extLst>
              <a:ext uri="{FF2B5EF4-FFF2-40B4-BE49-F238E27FC236}">
                <a16:creationId xmlns:a16="http://schemas.microsoft.com/office/drawing/2014/main" id="{9D0E1E26-3DC4-78AF-BA33-7698349891F3}"/>
              </a:ext>
            </a:extLst>
          </p:cNvPr>
          <p:cNvSpPr txBox="1">
            <a:spLocks/>
          </p:cNvSpPr>
          <p:nvPr/>
        </p:nvSpPr>
        <p:spPr>
          <a:xfrm>
            <a:off x="564717" y="1103658"/>
            <a:ext cx="10895888" cy="446889"/>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1" u="none" strike="noStrike" kern="0" cap="none" spc="0" normalizeH="0" baseline="0" noProof="0" dirty="0">
                <a:ln>
                  <a:noFill/>
                </a:ln>
                <a:effectLst/>
                <a:uLnTx/>
                <a:uFillTx/>
                <a:latin typeface="Arial"/>
                <a:cs typeface="Arial"/>
                <a:sym typeface="Arial"/>
              </a:rPr>
              <a:t>Since its creation, GARDP has been very active in NCE-related manufacturing activities, with the aim of guaranteeing the affordability of the product and securing the supply chain.</a:t>
            </a:r>
          </a:p>
        </p:txBody>
      </p:sp>
      <p:sp>
        <p:nvSpPr>
          <p:cNvPr id="6" name="TextBox 5">
            <a:extLst>
              <a:ext uri="{FF2B5EF4-FFF2-40B4-BE49-F238E27FC236}">
                <a16:creationId xmlns:a16="http://schemas.microsoft.com/office/drawing/2014/main" id="{4A25C7B6-E7C6-C18D-4D11-69DB2C94B4C5}"/>
              </a:ext>
            </a:extLst>
          </p:cNvPr>
          <p:cNvSpPr txBox="1"/>
          <p:nvPr/>
        </p:nvSpPr>
        <p:spPr>
          <a:xfrm>
            <a:off x="912449" y="1933525"/>
            <a:ext cx="10910095" cy="3356606"/>
          </a:xfrm>
          <a:prstGeom prst="rect">
            <a:avLst/>
          </a:prstGeom>
          <a:noFill/>
        </p:spPr>
        <p:txBody>
          <a:bodyPr wrap="square">
            <a:noAutofit/>
          </a:bodyPr>
          <a:lstStyle/>
          <a:p>
            <a:pPr marL="285750" marR="0" lvl="0" indent="-285750" algn="l" defTabSz="914400" rtl="0" eaLnBrk="1" fontAlgn="base"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700" b="0" i="0" u="none" strike="noStrike" kern="0" cap="none" spc="0" normalizeH="0" baseline="0" noProof="0" dirty="0">
                <a:ln>
                  <a:noFill/>
                </a:ln>
                <a:effectLst/>
                <a:uLnTx/>
                <a:uFillTx/>
                <a:latin typeface="Arial" panose="020B0604020202020204"/>
                <a:cs typeface="Arial"/>
                <a:sym typeface="Arial"/>
              </a:rPr>
              <a:t>In Dec. 2017, GARDP signed a </a:t>
            </a:r>
            <a:r>
              <a:rPr kumimoji="0" lang="en-US" sz="1700" b="0" i="0" u="none" strike="noStrike" kern="0" cap="none" spc="0" normalizeH="0" baseline="0" noProof="0" dirty="0" err="1">
                <a:ln>
                  <a:noFill/>
                </a:ln>
                <a:effectLst/>
                <a:uLnTx/>
                <a:uFillTx/>
                <a:latin typeface="Arial" panose="020B0604020202020204"/>
                <a:cs typeface="Arial"/>
                <a:sym typeface="Arial"/>
              </a:rPr>
              <a:t>pharmaceutocal</a:t>
            </a:r>
            <a:r>
              <a:rPr kumimoji="0" lang="en-US" sz="1700" b="0" i="0" u="none" strike="noStrike" kern="0" cap="none" spc="0" normalizeH="0" baseline="0" noProof="0" dirty="0">
                <a:ln>
                  <a:noFill/>
                </a:ln>
                <a:effectLst/>
                <a:uLnTx/>
                <a:uFillTx/>
                <a:latin typeface="Arial" panose="020B0604020202020204"/>
                <a:cs typeface="Arial"/>
                <a:sym typeface="Arial"/>
              </a:rPr>
              <a:t> development service agreement with </a:t>
            </a:r>
            <a:r>
              <a:rPr kumimoji="0" lang="en-US" sz="1700" b="0" i="0" u="none" strike="noStrike" kern="0" cap="none" spc="0" normalizeH="0" baseline="0" noProof="0" dirty="0" err="1">
                <a:ln>
                  <a:noFill/>
                </a:ln>
                <a:effectLst/>
                <a:uLnTx/>
                <a:uFillTx/>
                <a:latin typeface="Arial" panose="020B0604020202020204"/>
                <a:cs typeface="Arial"/>
                <a:sym typeface="Arial"/>
              </a:rPr>
              <a:t>DrReddys</a:t>
            </a:r>
            <a:r>
              <a:rPr kumimoji="0" lang="en-US" sz="1700" b="0" i="0" u="none" strike="noStrike" kern="0" cap="none" spc="0" normalizeH="0" baseline="0" noProof="0" dirty="0">
                <a:ln>
                  <a:noFill/>
                </a:ln>
                <a:effectLst/>
                <a:uLnTx/>
                <a:uFillTx/>
                <a:latin typeface="Arial" panose="020B0604020202020204"/>
                <a:cs typeface="Arial"/>
                <a:sym typeface="Arial"/>
              </a:rPr>
              <a:t> (now </a:t>
            </a:r>
            <a:r>
              <a:rPr kumimoji="0" lang="en-US" sz="1700" b="0" i="0" u="none" strike="noStrike" kern="0" cap="none" spc="0" normalizeH="0" baseline="0" noProof="0" dirty="0" err="1">
                <a:ln>
                  <a:noFill/>
                </a:ln>
                <a:effectLst/>
                <a:uLnTx/>
                <a:uFillTx/>
                <a:latin typeface="Arial" panose="020B0604020202020204"/>
                <a:cs typeface="Arial"/>
                <a:sym typeface="Arial"/>
              </a:rPr>
              <a:t>Aurigene</a:t>
            </a:r>
            <a:r>
              <a:rPr kumimoji="0" lang="en-US" sz="1700" b="0" i="0" u="none" strike="noStrike" kern="0" cap="none" spc="0" normalizeH="0" baseline="0" noProof="0" dirty="0">
                <a:ln>
                  <a:noFill/>
                </a:ln>
                <a:effectLst/>
                <a:uLnTx/>
                <a:uFillTx/>
                <a:latin typeface="Arial" panose="020B0604020202020204"/>
                <a:cs typeface="Arial"/>
                <a:sym typeface="Arial"/>
              </a:rPr>
              <a:t>) to ensure the development and registration of the API Zoliflodacin and a DP containing the API.  </a:t>
            </a:r>
          </a:p>
          <a:p>
            <a:pPr marL="630238" lvl="1" indent="-273050" fontAlgn="base">
              <a:spcAft>
                <a:spcPts val="300"/>
              </a:spcAft>
              <a:buFont typeface="Wingdings" panose="05000000000000000000" pitchFamily="2" charset="2"/>
              <a:buChar char="ü"/>
              <a:defRPr/>
            </a:pPr>
            <a:r>
              <a:rPr kumimoji="0" lang="en-US" sz="1500" b="0" i="0" u="none" strike="noStrike" kern="0" cap="none" spc="0" normalizeH="0" baseline="0" noProof="0" dirty="0">
                <a:ln>
                  <a:noFill/>
                </a:ln>
                <a:effectLst/>
                <a:uLnTx/>
                <a:uFillTx/>
                <a:latin typeface="Arial" panose="020B0604020202020204"/>
                <a:cs typeface="Arial"/>
                <a:sym typeface="Arial"/>
              </a:rPr>
              <a:t>With the support of GARDP funding, the </a:t>
            </a:r>
            <a:r>
              <a:rPr kumimoji="0" lang="en-US" sz="1500" b="0" i="0" u="none" strike="noStrike" kern="0" cap="none" spc="0" normalizeH="0" baseline="0" noProof="0" dirty="0" err="1">
                <a:ln>
                  <a:noFill/>
                </a:ln>
                <a:effectLst/>
                <a:uLnTx/>
                <a:uFillTx/>
                <a:latin typeface="Arial" panose="020B0604020202020204"/>
                <a:cs typeface="Arial"/>
                <a:sym typeface="Arial"/>
              </a:rPr>
              <a:t>CoGs</a:t>
            </a:r>
            <a:r>
              <a:rPr kumimoji="0" lang="en-US" sz="1500" b="0" i="0" u="none" strike="noStrike" kern="0" cap="none" spc="0" normalizeH="0" baseline="0" noProof="0" dirty="0">
                <a:ln>
                  <a:noFill/>
                </a:ln>
                <a:effectLst/>
                <a:uLnTx/>
                <a:uFillTx/>
                <a:latin typeface="Arial" panose="020B0604020202020204"/>
                <a:cs typeface="Arial"/>
                <a:sym typeface="Arial"/>
              </a:rPr>
              <a:t> of the API was decreased from approximately $140/sachet, to $25/sachet (for 3 batches), and is still working on it to reach a zoliflodacin price compatible with LMIC countries</a:t>
            </a:r>
          </a:p>
          <a:p>
            <a:pPr marL="630238" lvl="1" indent="-273050" fontAlgn="base">
              <a:spcAft>
                <a:spcPts val="300"/>
              </a:spcAft>
              <a:buFont typeface="Wingdings" panose="05000000000000000000" pitchFamily="2" charset="2"/>
              <a:buChar char="ü"/>
              <a:defRPr/>
            </a:pPr>
            <a:r>
              <a:rPr lang="en-US" sz="1500" dirty="0"/>
              <a:t>GARDP joins forces with </a:t>
            </a:r>
            <a:r>
              <a:rPr lang="en-US" sz="1500" dirty="0" err="1"/>
              <a:t>Aurigene</a:t>
            </a:r>
            <a:r>
              <a:rPr lang="en-US" sz="1500" dirty="0"/>
              <a:t> to become the world's leading manufacturer of zoliflodacin.</a:t>
            </a:r>
          </a:p>
          <a:p>
            <a:pPr marL="630238" lvl="1" indent="-273050" fontAlgn="base">
              <a:spcAft>
                <a:spcPts val="300"/>
              </a:spcAft>
              <a:buFont typeface="Wingdings" panose="05000000000000000000" pitchFamily="2" charset="2"/>
              <a:buChar char="ü"/>
              <a:defRPr/>
            </a:pPr>
            <a:r>
              <a:rPr lang="en-US" sz="1500" dirty="0"/>
              <a:t>Indirectly, GARDP strengthens </a:t>
            </a:r>
            <a:r>
              <a:rPr lang="en-US" sz="1500" dirty="0" err="1"/>
              <a:t>Aurigene's</a:t>
            </a:r>
            <a:r>
              <a:rPr lang="en-US" sz="1500" dirty="0"/>
              <a:t> position as a key manufacturer of antibiotics.</a:t>
            </a:r>
          </a:p>
          <a:p>
            <a:pPr marL="630238" lvl="1" indent="-273050" fontAlgn="base">
              <a:spcAft>
                <a:spcPts val="300"/>
              </a:spcAft>
              <a:buFont typeface="Wingdings" panose="05000000000000000000" pitchFamily="2" charset="2"/>
              <a:buChar char="ü"/>
              <a:defRPr/>
            </a:pPr>
            <a:endParaRPr kumimoji="0" lang="en-US" sz="500" b="0" i="0" u="none" strike="noStrike" kern="0" cap="none" spc="0" normalizeH="0" baseline="0" noProof="0" dirty="0">
              <a:ln>
                <a:noFill/>
              </a:ln>
              <a:effectLst/>
              <a:uLnTx/>
              <a:uFillTx/>
              <a:latin typeface="Arial" panose="020B0604020202020204"/>
              <a:cs typeface="Arial"/>
              <a:sym typeface="Arial"/>
            </a:endParaRPr>
          </a:p>
          <a:p>
            <a:pPr marL="285750" marR="0" lvl="0" indent="-285750" algn="l" defTabSz="914400" rtl="0" eaLnBrk="1" fontAlgn="base"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Arial" panose="020B0604020202020204"/>
                <a:cs typeface="Arial"/>
                <a:sym typeface="Arial"/>
              </a:rPr>
              <a:t>In Sept. 2023, GARDP signed a manufacturing sublicense and technology transfer agreement with Orchid with the aim to reduce the </a:t>
            </a:r>
            <a:r>
              <a:rPr kumimoji="0" lang="en-US" sz="1600" b="0" i="0" u="none" strike="noStrike" kern="0" cap="none" spc="0" normalizeH="0" baseline="0" noProof="0" dirty="0" err="1">
                <a:ln>
                  <a:noFill/>
                </a:ln>
                <a:effectLst/>
                <a:uLnTx/>
                <a:uFillTx/>
                <a:latin typeface="Arial" panose="020B0604020202020204"/>
                <a:cs typeface="Arial"/>
                <a:sym typeface="Arial"/>
              </a:rPr>
              <a:t>CoGs</a:t>
            </a:r>
            <a:r>
              <a:rPr kumimoji="0" lang="en-US" sz="1600" b="0" i="0" u="none" strike="noStrike" kern="0" cap="none" spc="0" normalizeH="0" baseline="0" noProof="0" dirty="0">
                <a:ln>
                  <a:noFill/>
                </a:ln>
                <a:effectLst/>
                <a:uLnTx/>
                <a:uFillTx/>
                <a:latin typeface="Arial" panose="020B0604020202020204"/>
                <a:cs typeface="Arial"/>
                <a:sym typeface="Arial"/>
              </a:rPr>
              <a:t> of </a:t>
            </a:r>
            <a:r>
              <a:rPr kumimoji="0" lang="en-US" sz="1600" b="0" i="0" u="none" strike="noStrike" kern="0" cap="none" spc="0" normalizeH="0" baseline="0" noProof="0" dirty="0" err="1">
                <a:ln>
                  <a:noFill/>
                </a:ln>
                <a:effectLst/>
                <a:uLnTx/>
                <a:uFillTx/>
                <a:latin typeface="Arial" panose="020B0604020202020204"/>
                <a:cs typeface="Arial"/>
                <a:sym typeface="Arial"/>
              </a:rPr>
              <a:t>cefiderocol</a:t>
            </a:r>
            <a:r>
              <a:rPr kumimoji="0" lang="en-US" sz="1600" b="0" i="0" u="none" strike="noStrike" kern="0" cap="none" spc="0" normalizeH="0" baseline="0" noProof="0" dirty="0">
                <a:ln>
                  <a:noFill/>
                </a:ln>
                <a:effectLst/>
                <a:uLnTx/>
                <a:uFillTx/>
                <a:latin typeface="Arial" panose="020B0604020202020204"/>
                <a:cs typeface="Arial"/>
                <a:sym typeface="Arial"/>
              </a:rPr>
              <a:t> but also to support the creation of a new manufacturing facility for this product.</a:t>
            </a:r>
          </a:p>
          <a:p>
            <a:pPr marL="630238" lvl="1" indent="-273050" fontAlgn="base">
              <a:spcAft>
                <a:spcPts val="300"/>
              </a:spcAft>
              <a:buFont typeface="Wingdings" panose="05000000000000000000" pitchFamily="2" charset="2"/>
              <a:buChar char="ü"/>
              <a:defRPr/>
            </a:pPr>
            <a:r>
              <a:rPr kumimoji="0" lang="en-US" sz="1500" b="0" i="0" u="none" strike="noStrike" kern="0" cap="none" spc="0" normalizeH="0" baseline="0" noProof="0" dirty="0">
                <a:ln>
                  <a:noFill/>
                </a:ln>
                <a:effectLst/>
                <a:uLnTx/>
                <a:uFillTx/>
                <a:latin typeface="Arial" panose="020B0604020202020204"/>
                <a:cs typeface="Arial"/>
                <a:sym typeface="Arial"/>
              </a:rPr>
              <a:t>GARDP is partnering Orchid</a:t>
            </a:r>
            <a:r>
              <a:rPr kumimoji="0" lang="en-US" sz="1500" b="0" i="0" u="none" strike="noStrike" kern="0" cap="none" spc="0" normalizeH="0" baseline="0" noProof="0">
                <a:ln>
                  <a:noFill/>
                </a:ln>
                <a:effectLst/>
                <a:uLnTx/>
                <a:uFillTx/>
                <a:latin typeface="Arial" panose="020B0604020202020204"/>
                <a:cs typeface="Arial"/>
                <a:sym typeface="Arial"/>
              </a:rPr>
              <a:t>, potentially financing </a:t>
            </a:r>
            <a:r>
              <a:rPr kumimoji="0" lang="en-US" sz="1500" b="0" i="0" u="none" strike="noStrike" kern="0" cap="none" spc="0" normalizeH="0" baseline="0" noProof="0" dirty="0">
                <a:ln>
                  <a:noFill/>
                </a:ln>
                <a:effectLst/>
                <a:uLnTx/>
                <a:uFillTx/>
                <a:latin typeface="Arial" panose="020B0604020202020204"/>
                <a:cs typeface="Arial"/>
                <a:sym typeface="Arial"/>
              </a:rPr>
              <a:t>part of the Capex to set up this plant.</a:t>
            </a:r>
          </a:p>
          <a:p>
            <a:pPr marL="630238" lvl="1" indent="-273050" fontAlgn="base">
              <a:spcAft>
                <a:spcPts val="300"/>
              </a:spcAft>
              <a:buFont typeface="Wingdings" panose="05000000000000000000" pitchFamily="2" charset="2"/>
              <a:buChar char="ü"/>
              <a:defRPr/>
            </a:pPr>
            <a:r>
              <a:rPr lang="en-US" sz="1500" dirty="0"/>
              <a:t>Thanks to GARDP move and financial support, Orchid will become one of the few players in LMICs (and the only one in India) having expertise / technology around </a:t>
            </a:r>
            <a:r>
              <a:rPr lang="en-CH" sz="1500" dirty="0"/>
              <a:t>in-vial</a:t>
            </a:r>
            <a:r>
              <a:rPr lang="en-US" sz="1500" dirty="0"/>
              <a:t> lyophilization for beta-lactam products. </a:t>
            </a:r>
          </a:p>
          <a:p>
            <a:pPr marL="630238" lvl="1" indent="-273050" fontAlgn="base">
              <a:spcAft>
                <a:spcPts val="300"/>
              </a:spcAft>
              <a:buFont typeface="Wingdings" panose="05000000000000000000" pitchFamily="2" charset="2"/>
              <a:buChar char="ü"/>
              <a:defRPr/>
            </a:pPr>
            <a:endParaRPr kumimoji="0" lang="en-US" sz="500" b="0" i="0" u="none" strike="noStrike" kern="0" cap="none" spc="0" normalizeH="0" baseline="0" noProof="0" dirty="0">
              <a:ln>
                <a:noFill/>
              </a:ln>
              <a:effectLst/>
              <a:uLnTx/>
              <a:uFillTx/>
              <a:latin typeface="Arial" panose="020B0604020202020204"/>
              <a:cs typeface="Arial"/>
              <a:sym typeface="Arial"/>
            </a:endParaRPr>
          </a:p>
          <a:p>
            <a:pPr marL="285750" marR="0" lvl="0" indent="-285750" algn="l" defTabSz="914400" rtl="0" eaLnBrk="1" fontAlgn="base"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effectLst/>
                <a:uLnTx/>
                <a:uFillTx/>
                <a:latin typeface="Arial" panose="020B0604020202020204"/>
                <a:cs typeface="Arial"/>
                <a:sym typeface="Arial"/>
              </a:rPr>
              <a:t>Thanks to the agreement signed with Bug</a:t>
            </a:r>
            <a:r>
              <a:rPr kumimoji="0" lang="en-CH" sz="1600" b="0" i="0" u="none" strike="noStrike" kern="0" cap="none" spc="0" normalizeH="0" baseline="0" noProof="0" dirty="0">
                <a:ln>
                  <a:noFill/>
                </a:ln>
                <a:effectLst/>
                <a:uLnTx/>
                <a:uFillTx/>
                <a:latin typeface="Arial" panose="020B0604020202020204"/>
                <a:cs typeface="Arial"/>
                <a:sym typeface="Arial"/>
              </a:rPr>
              <a:t>wo</a:t>
            </a:r>
            <a:r>
              <a:rPr kumimoji="0" lang="en-US" sz="1600" b="0" i="0" u="none" strike="noStrike" kern="0" cap="none" spc="0" normalizeH="0" baseline="0" noProof="0" dirty="0" err="1">
                <a:ln>
                  <a:noFill/>
                </a:ln>
                <a:effectLst/>
                <a:uLnTx/>
                <a:uFillTx/>
                <a:latin typeface="Arial" panose="020B0604020202020204"/>
                <a:cs typeface="Arial"/>
                <a:sym typeface="Arial"/>
              </a:rPr>
              <a:t>rks</a:t>
            </a:r>
            <a:r>
              <a:rPr kumimoji="0" lang="en-US" sz="1600" b="0" i="0" u="none" strike="noStrike" kern="0" cap="none" spc="0" normalizeH="0" baseline="0" noProof="0" dirty="0">
                <a:ln>
                  <a:noFill/>
                </a:ln>
                <a:effectLst/>
                <a:uLnTx/>
                <a:uFillTx/>
                <a:latin typeface="Arial" panose="020B0604020202020204"/>
                <a:cs typeface="Arial"/>
                <a:sym typeface="Arial"/>
              </a:rPr>
              <a:t> in 2024, GARDP is now fully involved in the CMC strategy for this new compound with the aim of being instrumental in how the supply chain should be constructed for this product.</a:t>
            </a:r>
            <a:endParaRPr kumimoji="0" lang="en-US" sz="1500" b="0" i="0" u="none" strike="noStrike" kern="0" cap="none" spc="0" normalizeH="0" baseline="0" noProof="0" dirty="0">
              <a:ln>
                <a:noFill/>
              </a:ln>
              <a:effectLst/>
              <a:uLnTx/>
              <a:uFillTx/>
              <a:latin typeface="Arial" panose="020B0604020202020204"/>
              <a:cs typeface="Arial"/>
              <a:sym typeface="Arial"/>
            </a:endParaRPr>
          </a:p>
        </p:txBody>
      </p:sp>
      <p:sp>
        <p:nvSpPr>
          <p:cNvPr id="4" name="Rectangle 3">
            <a:extLst>
              <a:ext uri="{FF2B5EF4-FFF2-40B4-BE49-F238E27FC236}">
                <a16:creationId xmlns:a16="http://schemas.microsoft.com/office/drawing/2014/main" id="{35273302-07D6-FF0D-7F10-D0912FF5B7EF}"/>
              </a:ext>
            </a:extLst>
          </p:cNvPr>
          <p:cNvSpPr/>
          <p:nvPr/>
        </p:nvSpPr>
        <p:spPr>
          <a:xfrm>
            <a:off x="2343149" y="5975188"/>
            <a:ext cx="9231755" cy="757053"/>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54013" indent="-285750">
              <a:buFont typeface="Wingdings" panose="05000000000000000000" pitchFamily="2" charset="2"/>
              <a:buChar char="Ø"/>
            </a:pPr>
            <a:r>
              <a:rPr lang="en-US" sz="1700" b="1" dirty="0">
                <a:solidFill>
                  <a:schemeClr val="tx1"/>
                </a:solidFill>
              </a:rPr>
              <a:t>GARDP's role (and impact) on NCE manufacturing is essential, as the </a:t>
            </a:r>
            <a:r>
              <a:rPr lang="en-US" sz="1700" b="1" dirty="0" err="1">
                <a:solidFill>
                  <a:schemeClr val="tx1"/>
                </a:solidFill>
              </a:rPr>
              <a:t>organisation</a:t>
            </a:r>
            <a:r>
              <a:rPr lang="en-US" sz="1700" b="1" dirty="0">
                <a:solidFill>
                  <a:schemeClr val="tx1"/>
                </a:solidFill>
              </a:rPr>
              <a:t> that initiates or strengthens the supply chain.</a:t>
            </a:r>
          </a:p>
        </p:txBody>
      </p:sp>
    </p:spTree>
    <p:extLst>
      <p:ext uri="{BB962C8B-B14F-4D97-AF65-F5344CB8AC3E}">
        <p14:creationId xmlns:p14="http://schemas.microsoft.com/office/powerpoint/2010/main" val="3116671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9">
            <a:extLst>
              <a:ext uri="{FF2B5EF4-FFF2-40B4-BE49-F238E27FC236}">
                <a16:creationId xmlns:a16="http://schemas.microsoft.com/office/drawing/2014/main" id="{6D693A2F-197A-4944-8164-56AA507DCACA}"/>
              </a:ext>
            </a:extLst>
          </p:cNvPr>
          <p:cNvSpPr txBox="1">
            <a:spLocks/>
          </p:cNvSpPr>
          <p:nvPr/>
        </p:nvSpPr>
        <p:spPr>
          <a:xfrm>
            <a:off x="11580044" y="6528004"/>
            <a:ext cx="562915" cy="303274"/>
          </a:xfrm>
          <a:prstGeom prst="rect">
            <a:avLst/>
          </a:prstGeom>
          <a:noFill/>
          <a:ln>
            <a:no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spcFirstLastPara="1" wrap="square" lIns="45719" tIns="45719" rIns="45719" bIns="45719" anchor="t" anchorCtr="0">
            <a:noAutofit/>
          </a:bodyPr>
          <a:lstStyle>
            <a:defPPr marR="0" lvl="0" algn="l" rtl="0">
              <a:lnSpc>
                <a:spcPct val="100000"/>
              </a:lnSpc>
              <a:spcBef>
                <a:spcPts val="0"/>
              </a:spcBef>
              <a:spcAft>
                <a:spcPts val="0"/>
              </a:spcAft>
            </a:defPPr>
            <a:lvl1pPr marL="457200" marR="0" lvl="0" indent="-228600" algn="l" rtl="0" eaLnBrk="1" hangingPunct="1">
              <a:lnSpc>
                <a:spcPct val="90000"/>
              </a:lnSpc>
              <a:spcBef>
                <a:spcPts val="1000"/>
              </a:spcBef>
              <a:spcAft>
                <a:spcPts val="0"/>
              </a:spcAft>
              <a:buClr>
                <a:srgbClr val="18A1AB"/>
              </a:buClr>
              <a:buSzPts val="2400"/>
              <a:buFont typeface="Arial"/>
              <a:buNone/>
              <a:defRPr sz="1000" b="0" i="0" u="none" strike="noStrike" cap="none">
                <a:solidFill>
                  <a:srgbClr val="000000"/>
                </a:solidFill>
                <a:latin typeface="Arial"/>
                <a:ea typeface="Arial"/>
                <a:cs typeface="Arial"/>
                <a:sym typeface="Arial"/>
              </a:defRPr>
            </a:lvl1pPr>
            <a:lvl2pPr marL="914400" marR="0" lvl="1"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marL="457200" marR="0" lvl="0" indent="-228600" algn="ctr" defTabSz="914400" rtl="0" eaLnBrk="1" fontAlgn="auto" latinLnBrk="0" hangingPunct="1">
              <a:lnSpc>
                <a:spcPct val="90000"/>
              </a:lnSpc>
              <a:spcBef>
                <a:spcPts val="1000"/>
              </a:spcBef>
              <a:spcAft>
                <a:spcPts val="0"/>
              </a:spcAft>
              <a:buClr>
                <a:srgbClr val="18A1AB"/>
              </a:buClr>
              <a:buSzPts val="2400"/>
              <a:buFont typeface="Arial"/>
              <a:buNone/>
              <a:tabLst/>
              <a:defRPr/>
            </a:pPr>
            <a:fld id="{86CB4B4D-7CA3-9044-876B-883B54F8677D}" type="slidenum">
              <a:rPr kumimoji="0" lang="en-GB" sz="800" b="0" i="0" u="none" strike="noStrike" kern="0" cap="none" spc="0" normalizeH="0" baseline="0" noProof="0" smtClean="0">
                <a:ln>
                  <a:noFill/>
                </a:ln>
                <a:solidFill>
                  <a:srgbClr val="000000"/>
                </a:solidFill>
                <a:effectLst/>
                <a:uLnTx/>
                <a:uFillTx/>
                <a:latin typeface="Arial"/>
                <a:cs typeface="Arial"/>
                <a:sym typeface="Arial"/>
              </a:rPr>
              <a:pPr marL="457200" marR="0" lvl="0" indent="-228600" algn="ctr" defTabSz="914400" rtl="0" eaLnBrk="1" fontAlgn="auto" latinLnBrk="0" hangingPunct="1">
                <a:lnSpc>
                  <a:spcPct val="90000"/>
                </a:lnSpc>
                <a:spcBef>
                  <a:spcPts val="1000"/>
                </a:spcBef>
                <a:spcAft>
                  <a:spcPts val="0"/>
                </a:spcAft>
                <a:buClr>
                  <a:srgbClr val="18A1AB"/>
                </a:buClr>
                <a:buSzPts val="2400"/>
                <a:buFont typeface="Arial"/>
                <a:buNone/>
                <a:tabLst/>
                <a:defRPr/>
              </a:pPr>
              <a:t>6</a:t>
            </a:fld>
            <a:endParaRPr kumimoji="0" lang="en-GB" sz="8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 name="Straight Connector 1">
            <a:extLst>
              <a:ext uri="{FF2B5EF4-FFF2-40B4-BE49-F238E27FC236}">
                <a16:creationId xmlns:a16="http://schemas.microsoft.com/office/drawing/2014/main" id="{DA4F0FC3-A77B-B0FA-E587-9F88B0F50650}"/>
              </a:ext>
            </a:extLst>
          </p:cNvPr>
          <p:cNvCxnSpPr/>
          <p:nvPr/>
        </p:nvCxnSpPr>
        <p:spPr>
          <a:xfrm>
            <a:off x="607860" y="980168"/>
            <a:ext cx="3600000" cy="0"/>
          </a:xfrm>
          <a:prstGeom prst="line">
            <a:avLst/>
          </a:prstGeom>
          <a:ln w="19050">
            <a:solidFill>
              <a:srgbClr val="0B6377"/>
            </a:solidFill>
          </a:ln>
        </p:spPr>
        <p:style>
          <a:lnRef idx="1">
            <a:schemeClr val="accent1"/>
          </a:lnRef>
          <a:fillRef idx="0">
            <a:schemeClr val="accent1"/>
          </a:fillRef>
          <a:effectRef idx="0">
            <a:schemeClr val="accent1"/>
          </a:effectRef>
          <a:fontRef idx="minor">
            <a:schemeClr val="tx1"/>
          </a:fontRef>
        </p:style>
      </p:cxnSp>
      <p:sp>
        <p:nvSpPr>
          <p:cNvPr id="5" name="Text Placeholder 3">
            <a:extLst>
              <a:ext uri="{FF2B5EF4-FFF2-40B4-BE49-F238E27FC236}">
                <a16:creationId xmlns:a16="http://schemas.microsoft.com/office/drawing/2014/main" id="{9D0E1E26-3DC4-78AF-BA33-7698349891F3}"/>
              </a:ext>
            </a:extLst>
          </p:cNvPr>
          <p:cNvSpPr txBox="1">
            <a:spLocks/>
          </p:cNvSpPr>
          <p:nvPr/>
        </p:nvSpPr>
        <p:spPr>
          <a:xfrm>
            <a:off x="564717" y="1103659"/>
            <a:ext cx="11453112" cy="393672"/>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1" u="none" strike="noStrike" kern="0" cap="none" spc="0" normalizeH="0" baseline="0" noProof="0" dirty="0">
                <a:ln>
                  <a:noFill/>
                </a:ln>
                <a:effectLst/>
                <a:uLnTx/>
                <a:uFillTx/>
                <a:latin typeface="Arial"/>
                <a:cs typeface="Arial"/>
                <a:sym typeface="Arial"/>
              </a:rPr>
              <a:t>But the situation remains different when it comes to the generic product and our future involvement in production. </a:t>
            </a:r>
          </a:p>
        </p:txBody>
      </p:sp>
      <p:sp>
        <p:nvSpPr>
          <p:cNvPr id="6" name="TextBox 5">
            <a:extLst>
              <a:ext uri="{FF2B5EF4-FFF2-40B4-BE49-F238E27FC236}">
                <a16:creationId xmlns:a16="http://schemas.microsoft.com/office/drawing/2014/main" id="{4A25C7B6-E7C6-C18D-4D11-69DB2C94B4C5}"/>
              </a:ext>
            </a:extLst>
          </p:cNvPr>
          <p:cNvSpPr txBox="1"/>
          <p:nvPr/>
        </p:nvSpPr>
        <p:spPr>
          <a:xfrm>
            <a:off x="912449" y="1807795"/>
            <a:ext cx="10910095" cy="3356606"/>
          </a:xfrm>
          <a:prstGeom prst="rect">
            <a:avLst/>
          </a:prstGeom>
          <a:noFill/>
        </p:spPr>
        <p:txBody>
          <a:bodyPr wrap="square">
            <a:noAutofit/>
          </a:bodyPr>
          <a:lstStyle/>
          <a:p>
            <a:pPr marL="285750" marR="0" lvl="0" indent="-285750" algn="l" defTabSz="914400" rtl="0" eaLnBrk="1" fontAlgn="base"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700" b="0" i="0" u="none" strike="noStrike" kern="0" cap="none" spc="0" normalizeH="0" baseline="0" noProof="0" dirty="0">
                <a:ln>
                  <a:noFill/>
                </a:ln>
                <a:effectLst/>
                <a:uLnTx/>
                <a:uFillTx/>
                <a:latin typeface="Arial" panose="020B0604020202020204"/>
                <a:cs typeface="Arial"/>
                <a:sym typeface="Arial"/>
              </a:rPr>
              <a:t>GARDP is currently working on two products for which the supply chain is well </a:t>
            </a:r>
            <a:r>
              <a:rPr kumimoji="0" lang="en-US" sz="1700" b="0" i="0" u="none" strike="noStrike" kern="0" cap="none" spc="0" normalizeH="0" baseline="0" noProof="0" dirty="0" err="1">
                <a:ln>
                  <a:noFill/>
                </a:ln>
                <a:effectLst/>
                <a:uLnTx/>
                <a:uFillTx/>
                <a:latin typeface="Arial" panose="020B0604020202020204"/>
                <a:cs typeface="Arial"/>
                <a:sym typeface="Arial"/>
              </a:rPr>
              <a:t>organised</a:t>
            </a:r>
            <a:r>
              <a:rPr kumimoji="0" lang="en-US" sz="1700" b="0" i="0" u="none" strike="noStrike" kern="0" cap="none" spc="0" normalizeH="0" baseline="0" noProof="0" dirty="0">
                <a:ln>
                  <a:noFill/>
                </a:ln>
                <a:effectLst/>
                <a:uLnTx/>
                <a:uFillTx/>
                <a:latin typeface="Arial" panose="020B0604020202020204"/>
                <a:cs typeface="Arial"/>
                <a:sym typeface="Arial"/>
              </a:rPr>
              <a:t> and meets current market demand.</a:t>
            </a:r>
          </a:p>
          <a:p>
            <a:pPr marL="357188" lvl="1" fontAlgn="base">
              <a:spcAft>
                <a:spcPts val="300"/>
              </a:spcAft>
              <a:defRPr/>
            </a:pPr>
            <a:endParaRPr lang="en-US" sz="1500" dirty="0"/>
          </a:p>
          <a:p>
            <a:pPr marL="357188" lvl="1" fontAlgn="base">
              <a:spcAft>
                <a:spcPts val="300"/>
              </a:spcAft>
              <a:defRPr/>
            </a:pPr>
            <a:endParaRPr lang="en-US" sz="1500" dirty="0"/>
          </a:p>
          <a:p>
            <a:pPr marL="357188" lvl="1" fontAlgn="base">
              <a:spcAft>
                <a:spcPts val="300"/>
              </a:spcAft>
              <a:defRPr/>
            </a:pPr>
            <a:endParaRPr lang="en-US" sz="2000" dirty="0"/>
          </a:p>
          <a:p>
            <a:pPr marL="357188" lvl="1" fontAlgn="base">
              <a:spcAft>
                <a:spcPts val="300"/>
              </a:spcAft>
              <a:defRPr/>
            </a:pPr>
            <a:endParaRPr lang="en-US" sz="1500" dirty="0"/>
          </a:p>
          <a:p>
            <a:pPr marL="357188" lvl="1" fontAlgn="base">
              <a:spcAft>
                <a:spcPts val="300"/>
              </a:spcAft>
              <a:defRPr/>
            </a:pPr>
            <a:endParaRPr lang="en-US" sz="1500" dirty="0"/>
          </a:p>
          <a:p>
            <a:pPr marL="630238" lvl="1" indent="-273050" fontAlgn="base">
              <a:spcAft>
                <a:spcPts val="300"/>
              </a:spcAft>
              <a:buFont typeface="Wingdings" panose="05000000000000000000" pitchFamily="2" charset="2"/>
              <a:buChar char="ü"/>
              <a:defRPr/>
            </a:pPr>
            <a:endParaRPr kumimoji="0" lang="en-US" sz="200" b="0" i="0" u="none" strike="noStrike" kern="0" cap="none" spc="0" normalizeH="0" baseline="0" noProof="0" dirty="0">
              <a:ln>
                <a:noFill/>
              </a:ln>
              <a:effectLst/>
              <a:uLnTx/>
              <a:uFillTx/>
              <a:latin typeface="Arial" panose="020B0604020202020204"/>
              <a:cs typeface="Arial"/>
              <a:sym typeface="Arial"/>
            </a:endParaRPr>
          </a:p>
          <a:p>
            <a:pPr marL="285750" marR="0" lvl="0" indent="-285750" algn="l" defTabSz="914400" rtl="0" eaLnBrk="1" fontAlgn="base"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700" b="0" i="0" u="none" strike="noStrike" kern="0" cap="none" spc="0" normalizeH="0" baseline="0" noProof="0" dirty="0">
                <a:ln>
                  <a:noFill/>
                </a:ln>
                <a:effectLst/>
                <a:uLnTx/>
                <a:uFillTx/>
                <a:latin typeface="Arial" panose="020B0604020202020204"/>
                <a:cs typeface="Arial"/>
                <a:sym typeface="Arial"/>
              </a:rPr>
              <a:t>But for both products, we face three main challenges that require us to be innovative about what we can do without putting GARDP in a risky position.</a:t>
            </a:r>
          </a:p>
          <a:p>
            <a:pPr marL="630238" lvl="1" indent="-273050" fontAlgn="base">
              <a:spcAft>
                <a:spcPts val="300"/>
              </a:spcAft>
              <a:buFont typeface="Wingdings" panose="05000000000000000000" pitchFamily="2" charset="2"/>
              <a:buChar char="ü"/>
              <a:defRPr/>
            </a:pPr>
            <a:endParaRPr lang="en-US" sz="1500" dirty="0"/>
          </a:p>
          <a:p>
            <a:pPr marL="285750" marR="0" lvl="0" indent="-285750" algn="l" defTabSz="914400" rtl="0" eaLnBrk="1" fontAlgn="base" latinLnBrk="0" hangingPunct="1">
              <a:lnSpc>
                <a:spcPct val="100000"/>
              </a:lnSpc>
              <a:spcBef>
                <a:spcPts val="0"/>
              </a:spcBef>
              <a:spcAft>
                <a:spcPts val="300"/>
              </a:spcAft>
              <a:buClr>
                <a:srgbClr val="000000"/>
              </a:buClr>
              <a:buSzTx/>
              <a:buFont typeface="Arial" panose="020B0604020202020204" pitchFamily="34" charset="0"/>
              <a:buChar char="•"/>
              <a:tabLst/>
              <a:defRPr/>
            </a:pPr>
            <a:endParaRPr kumimoji="0" lang="en-US" sz="1700" b="0" i="0" u="none" strike="noStrike" kern="0" cap="none" spc="0" normalizeH="0" baseline="0" noProof="0" dirty="0">
              <a:ln>
                <a:noFill/>
              </a:ln>
              <a:effectLst/>
              <a:uLnTx/>
              <a:uFillTx/>
              <a:latin typeface="Arial" panose="020B0604020202020204"/>
              <a:cs typeface="Arial"/>
              <a:sym typeface="Arial"/>
            </a:endParaRPr>
          </a:p>
        </p:txBody>
      </p:sp>
      <p:sp>
        <p:nvSpPr>
          <p:cNvPr id="8" name="TextBox 7">
            <a:extLst>
              <a:ext uri="{FF2B5EF4-FFF2-40B4-BE49-F238E27FC236}">
                <a16:creationId xmlns:a16="http://schemas.microsoft.com/office/drawing/2014/main" id="{4598A612-B10F-7559-E41D-689473396ED7}"/>
              </a:ext>
            </a:extLst>
          </p:cNvPr>
          <p:cNvSpPr txBox="1"/>
          <p:nvPr/>
        </p:nvSpPr>
        <p:spPr>
          <a:xfrm>
            <a:off x="909625" y="4467275"/>
            <a:ext cx="4576775" cy="2285241"/>
          </a:xfrm>
          <a:prstGeom prst="rect">
            <a:avLst/>
          </a:prstGeom>
          <a:noFill/>
        </p:spPr>
        <p:txBody>
          <a:bodyPr wrap="square">
            <a:spAutoFit/>
          </a:bodyPr>
          <a:lstStyle/>
          <a:p>
            <a:pPr marL="357188" lvl="1" fontAlgn="base">
              <a:spcAft>
                <a:spcPts val="300"/>
              </a:spcAft>
              <a:defRPr/>
            </a:pPr>
            <a:r>
              <a:rPr kumimoji="0" lang="en-US" sz="1500" b="0" i="0" u="sng" strike="noStrike" kern="0" cap="none" spc="0" normalizeH="0" baseline="0" noProof="0" dirty="0">
                <a:ln>
                  <a:noFill/>
                </a:ln>
                <a:effectLst/>
                <a:uLnTx/>
                <a:uFillTx/>
                <a:latin typeface="Arial" panose="020B0604020202020204"/>
                <a:cs typeface="Arial"/>
                <a:sym typeface="Arial"/>
              </a:rPr>
              <a:t>Challenges</a:t>
            </a:r>
          </a:p>
          <a:p>
            <a:pPr marL="630238" lvl="1" indent="-273050" fontAlgn="base">
              <a:spcAft>
                <a:spcPts val="300"/>
              </a:spcAft>
              <a:buFont typeface="Wingdings" panose="05000000000000000000" pitchFamily="2" charset="2"/>
              <a:buChar char="ü"/>
              <a:defRPr/>
            </a:pPr>
            <a:r>
              <a:rPr kumimoji="0" lang="en-US" sz="1500" b="0" i="0" u="none" strike="noStrike" kern="0" cap="none" spc="0" normalizeH="0" baseline="0" noProof="0" dirty="0">
                <a:ln>
                  <a:noFill/>
                </a:ln>
                <a:effectLst/>
                <a:uLnTx/>
                <a:uFillTx/>
                <a:latin typeface="Arial" panose="020B0604020202020204"/>
                <a:cs typeface="Arial"/>
                <a:sym typeface="Arial"/>
              </a:rPr>
              <a:t>High </a:t>
            </a:r>
            <a:r>
              <a:rPr kumimoji="0" lang="en-US" sz="1500" b="0" i="0" u="none" strike="noStrike" kern="0" cap="none" spc="0" normalizeH="0" baseline="0" noProof="0" dirty="0" err="1">
                <a:ln>
                  <a:noFill/>
                </a:ln>
                <a:effectLst/>
                <a:uLnTx/>
                <a:uFillTx/>
                <a:latin typeface="Arial" panose="020B0604020202020204"/>
                <a:cs typeface="Arial"/>
                <a:sym typeface="Arial"/>
              </a:rPr>
              <a:t>CoGs</a:t>
            </a:r>
            <a:r>
              <a:rPr kumimoji="0" lang="en-US" sz="1500" b="0" i="0" u="none" strike="noStrike" kern="0" cap="none" spc="0" normalizeH="0" baseline="0" noProof="0" dirty="0">
                <a:ln>
                  <a:noFill/>
                </a:ln>
                <a:effectLst/>
                <a:uLnTx/>
                <a:uFillTx/>
                <a:latin typeface="Arial" panose="020B0604020202020204"/>
                <a:cs typeface="Arial"/>
                <a:sym typeface="Arial"/>
              </a:rPr>
              <a:t> (lack of volume, unimproved process, manufacturing facilities in high-risk countries);</a:t>
            </a:r>
          </a:p>
          <a:p>
            <a:pPr marL="630238" lvl="1" indent="-273050" fontAlgn="base">
              <a:spcAft>
                <a:spcPts val="300"/>
              </a:spcAft>
              <a:buFont typeface="Wingdings" panose="05000000000000000000" pitchFamily="2" charset="2"/>
              <a:buChar char="ü"/>
              <a:defRPr/>
            </a:pPr>
            <a:r>
              <a:rPr kumimoji="0" lang="en-US" sz="1500" b="0" i="0" u="none" strike="noStrike" kern="0" cap="none" spc="0" normalizeH="0" baseline="0" noProof="0" dirty="0">
                <a:ln>
                  <a:noFill/>
                </a:ln>
                <a:effectLst/>
                <a:uLnTx/>
                <a:uFillTx/>
                <a:latin typeface="Arial" panose="020B0604020202020204"/>
                <a:cs typeface="Arial"/>
                <a:sym typeface="Arial"/>
              </a:rPr>
              <a:t>Non-quality assured product and/or product that does not meet ICH guidelines;</a:t>
            </a:r>
          </a:p>
          <a:p>
            <a:pPr marL="630238" lvl="1" indent="-273050" fontAlgn="base">
              <a:spcAft>
                <a:spcPts val="300"/>
              </a:spcAft>
              <a:buFont typeface="Wingdings" panose="05000000000000000000" pitchFamily="2" charset="2"/>
              <a:buChar char="ü"/>
              <a:defRPr/>
            </a:pPr>
            <a:r>
              <a:rPr kumimoji="0" lang="en-US" sz="1500" b="0" i="0" u="none" strike="noStrike" kern="0" cap="none" spc="0" normalizeH="0" baseline="0" noProof="0" dirty="0">
                <a:ln>
                  <a:noFill/>
                </a:ln>
                <a:effectLst/>
                <a:uLnTx/>
                <a:uFillTx/>
                <a:latin typeface="Arial" panose="020B0604020202020204"/>
                <a:cs typeface="Arial"/>
                <a:sym typeface="Arial"/>
              </a:rPr>
              <a:t>Poor long-term forecasts and unwillingness of manufacturers to take risks and increase capacity.</a:t>
            </a:r>
            <a:endParaRPr lang="en-US" sz="1500" dirty="0"/>
          </a:p>
        </p:txBody>
      </p:sp>
      <p:sp>
        <p:nvSpPr>
          <p:cNvPr id="9" name="TextBox 8">
            <a:extLst>
              <a:ext uri="{FF2B5EF4-FFF2-40B4-BE49-F238E27FC236}">
                <a16:creationId xmlns:a16="http://schemas.microsoft.com/office/drawing/2014/main" id="{2B1FDD1A-FEA7-0687-185D-83457B9C84D4}"/>
              </a:ext>
            </a:extLst>
          </p:cNvPr>
          <p:cNvSpPr txBox="1"/>
          <p:nvPr/>
        </p:nvSpPr>
        <p:spPr>
          <a:xfrm>
            <a:off x="5292090" y="4445287"/>
            <a:ext cx="6896589" cy="1810752"/>
          </a:xfrm>
          <a:prstGeom prst="rect">
            <a:avLst/>
          </a:prstGeom>
          <a:noFill/>
        </p:spPr>
        <p:txBody>
          <a:bodyPr wrap="square">
            <a:spAutoFit/>
          </a:bodyPr>
          <a:lstStyle/>
          <a:p>
            <a:pPr marL="357188" lvl="1" fontAlgn="base">
              <a:spcAft>
                <a:spcPts val="200"/>
              </a:spcAft>
              <a:defRPr/>
            </a:pPr>
            <a:r>
              <a:rPr kumimoji="0" lang="en-US" sz="1500" b="0" i="0" u="sng" strike="noStrike" kern="0" cap="none" spc="0" normalizeH="0" baseline="0" noProof="0" dirty="0">
                <a:ln>
                  <a:noFill/>
                </a:ln>
                <a:effectLst/>
                <a:uLnTx/>
                <a:uFillTx/>
                <a:latin typeface="Arial" panose="020B0604020202020204"/>
                <a:cs typeface="Arial"/>
                <a:sym typeface="Arial"/>
              </a:rPr>
              <a:t>Solutions</a:t>
            </a:r>
          </a:p>
          <a:p>
            <a:pPr marL="630238" lvl="1" indent="-273050" fontAlgn="base">
              <a:spcAft>
                <a:spcPts val="200"/>
              </a:spcAft>
              <a:buFont typeface="Wingdings" panose="05000000000000000000" pitchFamily="2" charset="2"/>
              <a:buChar char="ü"/>
              <a:defRPr/>
            </a:pPr>
            <a:r>
              <a:rPr kumimoji="0" lang="en-US" sz="1500" b="0" i="0" u="none" strike="noStrike" kern="0" cap="none" spc="0" normalizeH="0" baseline="0" noProof="0" dirty="0">
                <a:ln>
                  <a:noFill/>
                </a:ln>
                <a:effectLst/>
                <a:uLnTx/>
                <a:uFillTx/>
                <a:latin typeface="Arial" panose="020B0604020202020204"/>
                <a:cs typeface="Arial"/>
                <a:sym typeface="Arial"/>
              </a:rPr>
              <a:t>Bring Technical Assistance (only) to support the move to a Quality Assured line; </a:t>
            </a:r>
          </a:p>
          <a:p>
            <a:pPr marL="630238" lvl="1" indent="-273050" fontAlgn="base">
              <a:spcAft>
                <a:spcPts val="200"/>
              </a:spcAft>
              <a:buFont typeface="Wingdings" panose="05000000000000000000" pitchFamily="2" charset="2"/>
              <a:buChar char="ü"/>
              <a:defRPr/>
            </a:pPr>
            <a:r>
              <a:rPr kumimoji="0" lang="en-US" sz="1500" b="0" i="0" u="none" strike="noStrike" kern="0" cap="none" spc="0" normalizeH="0" baseline="0" noProof="0" dirty="0">
                <a:ln>
                  <a:noFill/>
                </a:ln>
                <a:effectLst/>
                <a:uLnTx/>
                <a:uFillTx/>
                <a:latin typeface="Arial" panose="020B0604020202020204"/>
                <a:cs typeface="Arial"/>
                <a:sym typeface="Arial"/>
              </a:rPr>
              <a:t>Develop </a:t>
            </a:r>
            <a:r>
              <a:rPr lang="en-US" sz="1500" dirty="0"/>
              <a:t>more reliable </a:t>
            </a:r>
            <a:r>
              <a:rPr kumimoji="0" lang="en-US" sz="1500" b="0" i="0" u="none" strike="noStrike" kern="0" cap="none" spc="0" normalizeH="0" baseline="0" noProof="0" dirty="0">
                <a:ln>
                  <a:noFill/>
                </a:ln>
                <a:effectLst/>
                <a:uLnTx/>
                <a:uFillTx/>
                <a:latin typeface="Arial" panose="020B0604020202020204"/>
                <a:cs typeface="Arial"/>
                <a:sym typeface="Arial"/>
              </a:rPr>
              <a:t>forecasting tools; back a volume guarantee (?)</a:t>
            </a:r>
            <a:endParaRPr kumimoji="0" lang="en-CH" sz="1500" b="0" i="0" u="none" strike="noStrike" kern="0" cap="none" spc="0" normalizeH="0" baseline="0" noProof="0" dirty="0">
              <a:ln>
                <a:noFill/>
              </a:ln>
              <a:effectLst/>
              <a:uLnTx/>
              <a:uFillTx/>
              <a:latin typeface="Arial" panose="020B0604020202020204"/>
              <a:cs typeface="Arial"/>
              <a:sym typeface="Arial"/>
            </a:endParaRPr>
          </a:p>
          <a:p>
            <a:pPr marL="630238" lvl="1" indent="-273050" fontAlgn="base">
              <a:spcAft>
                <a:spcPts val="200"/>
              </a:spcAft>
              <a:buFont typeface="Wingdings" panose="05000000000000000000" pitchFamily="2" charset="2"/>
              <a:buChar char="ü"/>
              <a:defRPr/>
            </a:pPr>
            <a:r>
              <a:rPr lang="en-CH" sz="1500" dirty="0"/>
              <a:t>Consider PQ to  guarantee quality, expand registration and thus market</a:t>
            </a:r>
            <a:endParaRPr lang="en-US" sz="1500" dirty="0"/>
          </a:p>
          <a:p>
            <a:pPr marL="630238" lvl="1" indent="-273050" fontAlgn="base">
              <a:spcAft>
                <a:spcPts val="200"/>
              </a:spcAft>
              <a:buFont typeface="Wingdings" panose="05000000000000000000" pitchFamily="2" charset="2"/>
              <a:buChar char="ü"/>
              <a:defRPr/>
            </a:pPr>
            <a:r>
              <a:rPr kumimoji="0" lang="en-US" sz="1500" b="0" i="0" u="none" strike="noStrike" kern="0" cap="none" spc="0" normalizeH="0" baseline="0" noProof="0" dirty="0">
                <a:ln>
                  <a:noFill/>
                </a:ln>
                <a:effectLst/>
                <a:uLnTx/>
                <a:uFillTx/>
                <a:latin typeface="Arial" panose="020B0604020202020204"/>
                <a:cs typeface="Arial"/>
                <a:sym typeface="Arial"/>
              </a:rPr>
              <a:t>Support CMC activities to identify manufacturing efficiencies and impact on the </a:t>
            </a:r>
            <a:r>
              <a:rPr kumimoji="0" lang="en-US" sz="1500" b="0" i="0" u="none" strike="noStrike" kern="0" cap="none" spc="0" normalizeH="0" baseline="0" noProof="0" dirty="0" err="1">
                <a:ln>
                  <a:noFill/>
                </a:ln>
                <a:effectLst/>
                <a:uLnTx/>
                <a:uFillTx/>
                <a:latin typeface="Arial" panose="020B0604020202020204"/>
                <a:cs typeface="Arial"/>
                <a:sym typeface="Arial"/>
              </a:rPr>
              <a:t>CoGs</a:t>
            </a:r>
            <a:endParaRPr kumimoji="0" lang="en-US" sz="1500" b="0" i="0" u="none" strike="noStrike" kern="0" cap="none" spc="0" normalizeH="0" baseline="0" noProof="0" dirty="0">
              <a:ln>
                <a:noFill/>
              </a:ln>
              <a:effectLst/>
              <a:uLnTx/>
              <a:uFillTx/>
              <a:latin typeface="Arial" panose="020B0604020202020204"/>
              <a:cs typeface="Arial"/>
              <a:sym typeface="Arial"/>
            </a:endParaRPr>
          </a:p>
        </p:txBody>
      </p:sp>
      <p:sp>
        <p:nvSpPr>
          <p:cNvPr id="10" name="Isosceles Triangle 9">
            <a:extLst>
              <a:ext uri="{FF2B5EF4-FFF2-40B4-BE49-F238E27FC236}">
                <a16:creationId xmlns:a16="http://schemas.microsoft.com/office/drawing/2014/main" id="{F6738930-0BDB-809A-D4F4-E9A3D26706FD}"/>
              </a:ext>
            </a:extLst>
          </p:cNvPr>
          <p:cNvSpPr/>
          <p:nvPr/>
        </p:nvSpPr>
        <p:spPr>
          <a:xfrm rot="5400000">
            <a:off x="4709381" y="5554406"/>
            <a:ext cx="1706936" cy="179558"/>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a:extLst>
              <a:ext uri="{FF2B5EF4-FFF2-40B4-BE49-F238E27FC236}">
                <a16:creationId xmlns:a16="http://schemas.microsoft.com/office/drawing/2014/main" id="{7472A088-3B38-296A-A626-F1F5867260B9}"/>
              </a:ext>
            </a:extLst>
          </p:cNvPr>
          <p:cNvGraphicFramePr>
            <a:graphicFrameLocks noGrp="1"/>
          </p:cNvGraphicFramePr>
          <p:nvPr>
            <p:extLst>
              <p:ext uri="{D42A27DB-BD31-4B8C-83A1-F6EECF244321}">
                <p14:modId xmlns:p14="http://schemas.microsoft.com/office/powerpoint/2010/main" val="527281474"/>
              </p:ext>
            </p:extLst>
          </p:nvPr>
        </p:nvGraphicFramePr>
        <p:xfrm>
          <a:off x="1917700" y="2390140"/>
          <a:ext cx="8986521" cy="1325880"/>
        </p:xfrm>
        <a:graphic>
          <a:graphicData uri="http://schemas.openxmlformats.org/drawingml/2006/table">
            <a:tbl>
              <a:tblPr firstRow="1" bandRow="1">
                <a:tableStyleId>{F5AB1C69-6EDB-4FF4-983F-18BD219EF322}</a:tableStyleId>
              </a:tblPr>
              <a:tblGrid>
                <a:gridCol w="2425700">
                  <a:extLst>
                    <a:ext uri="{9D8B030D-6E8A-4147-A177-3AD203B41FA5}">
                      <a16:colId xmlns:a16="http://schemas.microsoft.com/office/drawing/2014/main" val="4182030571"/>
                    </a:ext>
                  </a:extLst>
                </a:gridCol>
                <a:gridCol w="3061695">
                  <a:extLst>
                    <a:ext uri="{9D8B030D-6E8A-4147-A177-3AD203B41FA5}">
                      <a16:colId xmlns:a16="http://schemas.microsoft.com/office/drawing/2014/main" val="1197722876"/>
                    </a:ext>
                  </a:extLst>
                </a:gridCol>
                <a:gridCol w="3499126">
                  <a:extLst>
                    <a:ext uri="{9D8B030D-6E8A-4147-A177-3AD203B41FA5}">
                      <a16:colId xmlns:a16="http://schemas.microsoft.com/office/drawing/2014/main" val="3962316254"/>
                    </a:ext>
                  </a:extLst>
                </a:gridCol>
              </a:tblGrid>
              <a:tr h="0">
                <a:tc>
                  <a:txBody>
                    <a:bodyPr/>
                    <a:lstStyle/>
                    <a:p>
                      <a:endParaRPr lang="en-US" sz="1300"/>
                    </a:p>
                  </a:txBody>
                  <a:tcPr/>
                </a:tc>
                <a:tc>
                  <a:txBody>
                    <a:bodyPr/>
                    <a:lstStyle/>
                    <a:p>
                      <a:r>
                        <a:rPr lang="en-US" sz="1300" dirty="0"/>
                        <a:t>Flomoxef</a:t>
                      </a:r>
                    </a:p>
                  </a:txBody>
                  <a:tcPr/>
                </a:tc>
                <a:tc>
                  <a:txBody>
                    <a:bodyPr/>
                    <a:lstStyle/>
                    <a:p>
                      <a:r>
                        <a:rPr lang="en-US" sz="1300" dirty="0"/>
                        <a:t>IV Fosfomycin</a:t>
                      </a:r>
                    </a:p>
                  </a:txBody>
                  <a:tcPr/>
                </a:tc>
                <a:extLst>
                  <a:ext uri="{0D108BD9-81ED-4DB2-BD59-A6C34878D82A}">
                    <a16:rowId xmlns:a16="http://schemas.microsoft.com/office/drawing/2014/main" val="2176610524"/>
                  </a:ext>
                </a:extLst>
              </a:tr>
              <a:tr h="0">
                <a:tc>
                  <a:txBody>
                    <a:bodyPr/>
                    <a:lstStyle/>
                    <a:p>
                      <a:r>
                        <a:rPr lang="en-US" sz="1300" dirty="0"/>
                        <a:t>2023 WW market (2019)</a:t>
                      </a:r>
                    </a:p>
                  </a:txBody>
                  <a:tcPr/>
                </a:tc>
                <a:tc>
                  <a:txBody>
                    <a:bodyPr/>
                    <a:lstStyle/>
                    <a:p>
                      <a:r>
                        <a:rPr lang="en-US" sz="1300" dirty="0"/>
                        <a:t>48 M$  (76 M$)</a:t>
                      </a:r>
                    </a:p>
                  </a:txBody>
                  <a:tcPr/>
                </a:tc>
                <a:tc>
                  <a:txBody>
                    <a:bodyPr/>
                    <a:lstStyle/>
                    <a:p>
                      <a:r>
                        <a:rPr lang="en-US" sz="1300" dirty="0"/>
                        <a:t>136 M$</a:t>
                      </a:r>
                    </a:p>
                  </a:txBody>
                  <a:tcPr/>
                </a:tc>
                <a:extLst>
                  <a:ext uri="{0D108BD9-81ED-4DB2-BD59-A6C34878D82A}">
                    <a16:rowId xmlns:a16="http://schemas.microsoft.com/office/drawing/2014/main" val="244582119"/>
                  </a:ext>
                </a:extLst>
              </a:tr>
              <a:tr h="0">
                <a:tc>
                  <a:txBody>
                    <a:bodyPr/>
                    <a:lstStyle/>
                    <a:p>
                      <a:r>
                        <a:rPr lang="en-US" sz="1300" dirty="0"/>
                        <a:t>Nb of countries with MAH</a:t>
                      </a:r>
                    </a:p>
                  </a:txBody>
                  <a:tcPr/>
                </a:tc>
                <a:tc>
                  <a:txBody>
                    <a:bodyPr/>
                    <a:lstStyle/>
                    <a:p>
                      <a:r>
                        <a:rPr lang="en-US" sz="1300" dirty="0"/>
                        <a:t>4  </a:t>
                      </a:r>
                      <a:r>
                        <a:rPr lang="en-US" sz="1100" dirty="0"/>
                        <a:t>[The Japanese market has fallen from $28M to $11M over the last 5 years]</a:t>
                      </a:r>
                    </a:p>
                  </a:txBody>
                  <a:tcPr/>
                </a:tc>
                <a:tc>
                  <a:txBody>
                    <a:bodyPr/>
                    <a:lstStyle/>
                    <a:p>
                      <a:r>
                        <a:rPr lang="en-US" sz="1300" dirty="0"/>
                        <a:t>35  </a:t>
                      </a:r>
                      <a:r>
                        <a:rPr lang="en-US" sz="1100" dirty="0"/>
                        <a:t>[</a:t>
                      </a:r>
                      <a:r>
                        <a:rPr lang="en-US" sz="1100" b="0" i="0" u="none" strike="noStrike" cap="none" baseline="0" dirty="0">
                          <a:solidFill>
                            <a:schemeClr val="dk1"/>
                          </a:solidFill>
                          <a:latin typeface="+mn-lt"/>
                          <a:ea typeface="+mn-ea"/>
                          <a:cs typeface="+mn-cs"/>
                          <a:sym typeface="Arial"/>
                        </a:rPr>
                        <a:t>Top 5 markets (China, Germany, Italy, Australia, Thailand) make up &gt;80% of sales and volume]</a:t>
                      </a:r>
                      <a:endParaRPr lang="en-US" sz="1100" b="0" dirty="0"/>
                    </a:p>
                  </a:txBody>
                  <a:tcPr/>
                </a:tc>
                <a:extLst>
                  <a:ext uri="{0D108BD9-81ED-4DB2-BD59-A6C34878D82A}">
                    <a16:rowId xmlns:a16="http://schemas.microsoft.com/office/drawing/2014/main" val="3637130806"/>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dirty="0"/>
                        <a:t>API manufacturers + MAH</a:t>
                      </a:r>
                    </a:p>
                  </a:txBody>
                  <a:tcPr/>
                </a:tc>
                <a:tc>
                  <a:txBody>
                    <a:bodyPr/>
                    <a:lstStyle/>
                    <a:p>
                      <a:r>
                        <a:rPr lang="en-US" sz="1300" dirty="0"/>
                        <a:t>2 </a:t>
                      </a:r>
                      <a:r>
                        <a:rPr lang="en-US" sz="1100" dirty="0"/>
                        <a:t>(Shionogi and JEIL)</a:t>
                      </a:r>
                      <a:r>
                        <a:rPr lang="en-US" sz="1300" dirty="0"/>
                        <a:t> &amp; 4 MAH</a:t>
                      </a:r>
                    </a:p>
                  </a:txBody>
                  <a:tcPr/>
                </a:tc>
                <a:tc>
                  <a:txBody>
                    <a:bodyPr/>
                    <a:lstStyle/>
                    <a:p>
                      <a:r>
                        <a:rPr lang="en-US" sz="1300" dirty="0"/>
                        <a:t>4+ &amp; 50+ MAH</a:t>
                      </a:r>
                    </a:p>
                  </a:txBody>
                  <a:tcPr/>
                </a:tc>
                <a:extLst>
                  <a:ext uri="{0D108BD9-81ED-4DB2-BD59-A6C34878D82A}">
                    <a16:rowId xmlns:a16="http://schemas.microsoft.com/office/drawing/2014/main" val="2057982118"/>
                  </a:ext>
                </a:extLst>
              </a:tr>
            </a:tbl>
          </a:graphicData>
        </a:graphic>
      </p:graphicFrame>
      <p:sp>
        <p:nvSpPr>
          <p:cNvPr id="4" name="Title 1">
            <a:extLst>
              <a:ext uri="{FF2B5EF4-FFF2-40B4-BE49-F238E27FC236}">
                <a16:creationId xmlns:a16="http://schemas.microsoft.com/office/drawing/2014/main" id="{4CA74E7B-1FDF-DCFB-BE69-CBE128BF29C0}"/>
              </a:ext>
            </a:extLst>
          </p:cNvPr>
          <p:cNvSpPr txBox="1">
            <a:spLocks/>
          </p:cNvSpPr>
          <p:nvPr/>
        </p:nvSpPr>
        <p:spPr>
          <a:xfrm>
            <a:off x="495299" y="302897"/>
            <a:ext cx="11522530" cy="5170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eaLnBrk="1" hangingPunct="1">
              <a:lnSpc>
                <a:spcPct val="90000"/>
              </a:lnSpc>
              <a:spcBef>
                <a:spcPts val="0"/>
              </a:spcBef>
              <a:spcAft>
                <a:spcPts val="0"/>
              </a:spcAft>
              <a:buClr>
                <a:srgbClr val="0D202F"/>
              </a:buClr>
              <a:buSzPts val="3500"/>
              <a:buFont typeface="Arial"/>
              <a:buNone/>
              <a:defRPr sz="35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D202F"/>
              </a:buClr>
              <a:buSzPts val="3500"/>
              <a:buFont typeface="Arial"/>
              <a:buNone/>
              <a:tabLst/>
              <a:defRPr/>
            </a:pPr>
            <a:r>
              <a:rPr kumimoji="0" lang="en-US" sz="3200" b="1" i="0" u="none" strike="noStrike" kern="0" cap="none" spc="0" normalizeH="0" baseline="0" noProof="0" dirty="0">
                <a:ln>
                  <a:noFill/>
                </a:ln>
                <a:solidFill>
                  <a:srgbClr val="000000"/>
                </a:solidFill>
                <a:effectLst/>
                <a:uLnTx/>
                <a:uFillTx/>
                <a:latin typeface="Arial"/>
                <a:cs typeface="Arial"/>
                <a:sym typeface="Arial"/>
              </a:rPr>
              <a:t>Potential investment on manufacturing: b</a:t>
            </a:r>
            <a:r>
              <a:rPr lang="en-GB" b="1" dirty="0" err="1">
                <a:solidFill>
                  <a:srgbClr val="0D202F"/>
                </a:solidFill>
              </a:rPr>
              <a:t>ackground</a:t>
            </a:r>
            <a:endParaRPr kumimoji="0" lang="en-GB" sz="3500" b="1"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866945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9">
            <a:extLst>
              <a:ext uri="{FF2B5EF4-FFF2-40B4-BE49-F238E27FC236}">
                <a16:creationId xmlns:a16="http://schemas.microsoft.com/office/drawing/2014/main" id="{6D693A2F-197A-4944-8164-56AA507DCACA}"/>
              </a:ext>
            </a:extLst>
          </p:cNvPr>
          <p:cNvSpPr txBox="1">
            <a:spLocks/>
          </p:cNvSpPr>
          <p:nvPr/>
        </p:nvSpPr>
        <p:spPr>
          <a:xfrm>
            <a:off x="11591474" y="6528004"/>
            <a:ext cx="562915" cy="303274"/>
          </a:xfrm>
          <a:prstGeom prst="rect">
            <a:avLst/>
          </a:prstGeom>
          <a:noFill/>
          <a:ln>
            <a:no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spcFirstLastPara="1" wrap="square" lIns="45719" tIns="45719" rIns="45719" bIns="45719" anchor="t" anchorCtr="0">
            <a:noAutofit/>
          </a:bodyPr>
          <a:lstStyle>
            <a:defPPr marR="0" lvl="0" algn="l" rtl="0">
              <a:lnSpc>
                <a:spcPct val="100000"/>
              </a:lnSpc>
              <a:spcBef>
                <a:spcPts val="0"/>
              </a:spcBef>
              <a:spcAft>
                <a:spcPts val="0"/>
              </a:spcAft>
            </a:defPPr>
            <a:lvl1pPr marL="457200" marR="0" lvl="0" indent="-228600" algn="l" rtl="0" eaLnBrk="1" hangingPunct="1">
              <a:lnSpc>
                <a:spcPct val="90000"/>
              </a:lnSpc>
              <a:spcBef>
                <a:spcPts val="1000"/>
              </a:spcBef>
              <a:spcAft>
                <a:spcPts val="0"/>
              </a:spcAft>
              <a:buClr>
                <a:srgbClr val="18A1AB"/>
              </a:buClr>
              <a:buSzPts val="2400"/>
              <a:buFont typeface="Arial"/>
              <a:buNone/>
              <a:defRPr sz="1000" b="0" i="0" u="none" strike="noStrike" cap="none">
                <a:solidFill>
                  <a:srgbClr val="000000"/>
                </a:solidFill>
                <a:latin typeface="Arial"/>
                <a:ea typeface="Arial"/>
                <a:cs typeface="Arial"/>
                <a:sym typeface="Arial"/>
              </a:defRPr>
            </a:lvl1pPr>
            <a:lvl2pPr marL="914400" marR="0" lvl="1"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marL="457200" marR="0" lvl="0" indent="-228600" algn="ctr" defTabSz="914400" rtl="0" eaLnBrk="1" fontAlgn="auto" latinLnBrk="0" hangingPunct="1">
              <a:lnSpc>
                <a:spcPct val="90000"/>
              </a:lnSpc>
              <a:spcBef>
                <a:spcPts val="1000"/>
              </a:spcBef>
              <a:spcAft>
                <a:spcPts val="0"/>
              </a:spcAft>
              <a:buClr>
                <a:srgbClr val="18A1AB"/>
              </a:buClr>
              <a:buSzPts val="2400"/>
              <a:buFont typeface="Arial"/>
              <a:buNone/>
              <a:tabLst/>
              <a:defRPr/>
            </a:pPr>
            <a:fld id="{86CB4B4D-7CA3-9044-876B-883B54F8677D}" type="slidenum">
              <a:rPr kumimoji="0" lang="en-GB" sz="800" b="0" i="0" u="none" strike="noStrike" kern="0" cap="none" spc="0" normalizeH="0" baseline="0" noProof="0" smtClean="0">
                <a:ln>
                  <a:noFill/>
                </a:ln>
                <a:solidFill>
                  <a:srgbClr val="000000"/>
                </a:solidFill>
                <a:effectLst/>
                <a:uLnTx/>
                <a:uFillTx/>
                <a:latin typeface="Arial"/>
                <a:cs typeface="Arial"/>
                <a:sym typeface="Arial"/>
              </a:rPr>
              <a:pPr marL="457200" marR="0" lvl="0" indent="-228600" algn="ctr" defTabSz="914400" rtl="0" eaLnBrk="1" fontAlgn="auto" latinLnBrk="0" hangingPunct="1">
                <a:lnSpc>
                  <a:spcPct val="90000"/>
                </a:lnSpc>
                <a:spcBef>
                  <a:spcPts val="1000"/>
                </a:spcBef>
                <a:spcAft>
                  <a:spcPts val="0"/>
                </a:spcAft>
                <a:buClr>
                  <a:srgbClr val="18A1AB"/>
                </a:buClr>
                <a:buSzPts val="2400"/>
                <a:buFont typeface="Arial"/>
                <a:buNone/>
                <a:tabLst/>
                <a:defRPr/>
              </a:pPr>
              <a:t>7</a:t>
            </a:fld>
            <a:endParaRPr kumimoji="0" lang="en-GB" sz="8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 name="Straight Connector 1">
            <a:extLst>
              <a:ext uri="{FF2B5EF4-FFF2-40B4-BE49-F238E27FC236}">
                <a16:creationId xmlns:a16="http://schemas.microsoft.com/office/drawing/2014/main" id="{DA4F0FC3-A77B-B0FA-E587-9F88B0F50650}"/>
              </a:ext>
            </a:extLst>
          </p:cNvPr>
          <p:cNvCxnSpPr/>
          <p:nvPr/>
        </p:nvCxnSpPr>
        <p:spPr>
          <a:xfrm>
            <a:off x="607860" y="980168"/>
            <a:ext cx="3600000" cy="0"/>
          </a:xfrm>
          <a:prstGeom prst="line">
            <a:avLst/>
          </a:prstGeom>
          <a:ln w="19050">
            <a:solidFill>
              <a:srgbClr val="0B6377"/>
            </a:solidFill>
          </a:ln>
        </p:spPr>
        <p:style>
          <a:lnRef idx="1">
            <a:schemeClr val="accent1"/>
          </a:lnRef>
          <a:fillRef idx="0">
            <a:schemeClr val="accent1"/>
          </a:fillRef>
          <a:effectRef idx="0">
            <a:schemeClr val="accent1"/>
          </a:effectRef>
          <a:fontRef idx="minor">
            <a:schemeClr val="tx1"/>
          </a:fontRef>
        </p:style>
      </p:cxnSp>
      <p:sp>
        <p:nvSpPr>
          <p:cNvPr id="5" name="Text Placeholder 3">
            <a:extLst>
              <a:ext uri="{FF2B5EF4-FFF2-40B4-BE49-F238E27FC236}">
                <a16:creationId xmlns:a16="http://schemas.microsoft.com/office/drawing/2014/main" id="{9D0E1E26-3DC4-78AF-BA33-7698349891F3}"/>
              </a:ext>
            </a:extLst>
          </p:cNvPr>
          <p:cNvSpPr txBox="1">
            <a:spLocks/>
          </p:cNvSpPr>
          <p:nvPr/>
        </p:nvSpPr>
        <p:spPr>
          <a:xfrm>
            <a:off x="564717" y="1103659"/>
            <a:ext cx="11453112" cy="393672"/>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1" u="none" strike="noStrike" kern="0" cap="none" spc="0" normalizeH="0" baseline="0" noProof="0" dirty="0">
                <a:ln>
                  <a:noFill/>
                </a:ln>
                <a:effectLst/>
                <a:uLnTx/>
                <a:uFillTx/>
                <a:latin typeface="Arial"/>
                <a:cs typeface="Arial"/>
                <a:sym typeface="Arial"/>
              </a:rPr>
              <a:t>But the situation remains different when it comes to the generic product and our future involvement in production. </a:t>
            </a:r>
          </a:p>
        </p:txBody>
      </p:sp>
      <p:sp>
        <p:nvSpPr>
          <p:cNvPr id="6" name="TextBox 5">
            <a:extLst>
              <a:ext uri="{FF2B5EF4-FFF2-40B4-BE49-F238E27FC236}">
                <a16:creationId xmlns:a16="http://schemas.microsoft.com/office/drawing/2014/main" id="{4A25C7B6-E7C6-C18D-4D11-69DB2C94B4C5}"/>
              </a:ext>
            </a:extLst>
          </p:cNvPr>
          <p:cNvSpPr txBox="1"/>
          <p:nvPr/>
        </p:nvSpPr>
        <p:spPr>
          <a:xfrm>
            <a:off x="912449" y="1807795"/>
            <a:ext cx="10910095" cy="3356606"/>
          </a:xfrm>
          <a:prstGeom prst="rect">
            <a:avLst/>
          </a:prstGeom>
          <a:noFill/>
        </p:spPr>
        <p:txBody>
          <a:bodyPr wrap="square">
            <a:noAutofit/>
          </a:bodyPr>
          <a:lstStyle/>
          <a:p>
            <a:pPr marL="285750" marR="0" lvl="0" indent="-285750" algn="l" defTabSz="914400" rtl="0" eaLnBrk="1" fontAlgn="base"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700" b="0" i="0" u="none" strike="noStrike" kern="0" cap="none" spc="0" normalizeH="0" baseline="0" noProof="0" dirty="0">
                <a:ln>
                  <a:noFill/>
                </a:ln>
                <a:effectLst/>
                <a:uLnTx/>
                <a:uFillTx/>
                <a:latin typeface="Arial" panose="020B0604020202020204"/>
                <a:cs typeface="Arial"/>
                <a:sym typeface="Arial"/>
              </a:rPr>
              <a:t>GARDP is currently working on two products for which the supply chain is well </a:t>
            </a:r>
            <a:r>
              <a:rPr kumimoji="0" lang="en-US" sz="1700" b="0" i="0" u="none" strike="noStrike" kern="0" cap="none" spc="0" normalizeH="0" baseline="0" noProof="0" dirty="0" err="1">
                <a:ln>
                  <a:noFill/>
                </a:ln>
                <a:effectLst/>
                <a:uLnTx/>
                <a:uFillTx/>
                <a:latin typeface="Arial" panose="020B0604020202020204"/>
                <a:cs typeface="Arial"/>
                <a:sym typeface="Arial"/>
              </a:rPr>
              <a:t>organised</a:t>
            </a:r>
            <a:r>
              <a:rPr kumimoji="0" lang="en-US" sz="1700" b="0" i="0" u="none" strike="noStrike" kern="0" cap="none" spc="0" normalizeH="0" baseline="0" noProof="0" dirty="0">
                <a:ln>
                  <a:noFill/>
                </a:ln>
                <a:effectLst/>
                <a:uLnTx/>
                <a:uFillTx/>
                <a:latin typeface="Arial" panose="020B0604020202020204"/>
                <a:cs typeface="Arial"/>
                <a:sym typeface="Arial"/>
              </a:rPr>
              <a:t> and meets current market demand.</a:t>
            </a:r>
          </a:p>
          <a:p>
            <a:pPr marL="357188" lvl="1" fontAlgn="base">
              <a:spcAft>
                <a:spcPts val="300"/>
              </a:spcAft>
              <a:defRPr/>
            </a:pPr>
            <a:endParaRPr lang="en-US" sz="1500" dirty="0"/>
          </a:p>
          <a:p>
            <a:pPr marL="357188" lvl="1" fontAlgn="base">
              <a:spcAft>
                <a:spcPts val="300"/>
              </a:spcAft>
              <a:defRPr/>
            </a:pPr>
            <a:endParaRPr lang="en-US" sz="1500" dirty="0"/>
          </a:p>
          <a:p>
            <a:pPr marL="357188" lvl="1" fontAlgn="base">
              <a:spcAft>
                <a:spcPts val="300"/>
              </a:spcAft>
              <a:defRPr/>
            </a:pPr>
            <a:endParaRPr lang="en-US" sz="2000" dirty="0"/>
          </a:p>
          <a:p>
            <a:pPr marL="357188" lvl="1" fontAlgn="base">
              <a:spcAft>
                <a:spcPts val="300"/>
              </a:spcAft>
              <a:defRPr/>
            </a:pPr>
            <a:endParaRPr lang="en-US" sz="1500" dirty="0"/>
          </a:p>
          <a:p>
            <a:pPr marL="357188" lvl="1" fontAlgn="base">
              <a:spcAft>
                <a:spcPts val="300"/>
              </a:spcAft>
              <a:defRPr/>
            </a:pPr>
            <a:endParaRPr lang="en-US" sz="1500" dirty="0"/>
          </a:p>
          <a:p>
            <a:pPr marL="630238" lvl="1" indent="-273050" fontAlgn="base">
              <a:spcAft>
                <a:spcPts val="300"/>
              </a:spcAft>
              <a:buFont typeface="Wingdings" panose="05000000000000000000" pitchFamily="2" charset="2"/>
              <a:buChar char="ü"/>
              <a:defRPr/>
            </a:pPr>
            <a:endParaRPr kumimoji="0" lang="en-US" sz="200" b="0" i="0" u="none" strike="noStrike" kern="0" cap="none" spc="0" normalizeH="0" baseline="0" noProof="0" dirty="0">
              <a:ln>
                <a:noFill/>
              </a:ln>
              <a:effectLst/>
              <a:uLnTx/>
              <a:uFillTx/>
              <a:latin typeface="Arial" panose="020B0604020202020204"/>
              <a:cs typeface="Arial"/>
              <a:sym typeface="Arial"/>
            </a:endParaRPr>
          </a:p>
          <a:p>
            <a:pPr marL="285750" marR="0" lvl="0" indent="-285750" algn="l" defTabSz="914400" rtl="0" eaLnBrk="1" fontAlgn="base"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700" b="0" i="0" u="none" strike="noStrike" kern="0" cap="none" spc="0" normalizeH="0" baseline="0" noProof="0" dirty="0">
                <a:ln>
                  <a:noFill/>
                </a:ln>
                <a:effectLst/>
                <a:uLnTx/>
                <a:uFillTx/>
                <a:latin typeface="Arial" panose="020B0604020202020204"/>
                <a:cs typeface="Arial"/>
                <a:sym typeface="Arial"/>
              </a:rPr>
              <a:t>But for both products, we face three main challenges that require us to be innovative about what we can do without putting GARDP in a risky position.</a:t>
            </a:r>
          </a:p>
          <a:p>
            <a:pPr marL="630238" lvl="1" indent="-273050" fontAlgn="base">
              <a:spcAft>
                <a:spcPts val="300"/>
              </a:spcAft>
              <a:buFont typeface="Wingdings" panose="05000000000000000000" pitchFamily="2" charset="2"/>
              <a:buChar char="ü"/>
              <a:defRPr/>
            </a:pPr>
            <a:endParaRPr lang="en-US" sz="1500" dirty="0"/>
          </a:p>
          <a:p>
            <a:pPr marL="285750" marR="0" lvl="0" indent="-285750" algn="l" defTabSz="914400" rtl="0" eaLnBrk="1" fontAlgn="base" latinLnBrk="0" hangingPunct="1">
              <a:lnSpc>
                <a:spcPct val="100000"/>
              </a:lnSpc>
              <a:spcBef>
                <a:spcPts val="0"/>
              </a:spcBef>
              <a:spcAft>
                <a:spcPts val="300"/>
              </a:spcAft>
              <a:buClr>
                <a:srgbClr val="000000"/>
              </a:buClr>
              <a:buSzTx/>
              <a:buFont typeface="Arial" panose="020B0604020202020204" pitchFamily="34" charset="0"/>
              <a:buChar char="•"/>
              <a:tabLst/>
              <a:defRPr/>
            </a:pPr>
            <a:endParaRPr kumimoji="0" lang="en-US" sz="1700" b="0" i="0" u="none" strike="noStrike" kern="0" cap="none" spc="0" normalizeH="0" baseline="0" noProof="0" dirty="0">
              <a:ln>
                <a:noFill/>
              </a:ln>
              <a:effectLst/>
              <a:uLnTx/>
              <a:uFillTx/>
              <a:latin typeface="Arial" panose="020B0604020202020204"/>
              <a:cs typeface="Arial"/>
              <a:sym typeface="Arial"/>
            </a:endParaRPr>
          </a:p>
        </p:txBody>
      </p:sp>
      <p:sp>
        <p:nvSpPr>
          <p:cNvPr id="8" name="TextBox 7">
            <a:extLst>
              <a:ext uri="{FF2B5EF4-FFF2-40B4-BE49-F238E27FC236}">
                <a16:creationId xmlns:a16="http://schemas.microsoft.com/office/drawing/2014/main" id="{4598A612-B10F-7559-E41D-689473396ED7}"/>
              </a:ext>
            </a:extLst>
          </p:cNvPr>
          <p:cNvSpPr txBox="1"/>
          <p:nvPr/>
        </p:nvSpPr>
        <p:spPr>
          <a:xfrm>
            <a:off x="909625" y="4467275"/>
            <a:ext cx="4576775" cy="2285241"/>
          </a:xfrm>
          <a:prstGeom prst="rect">
            <a:avLst/>
          </a:prstGeom>
          <a:noFill/>
        </p:spPr>
        <p:txBody>
          <a:bodyPr wrap="square">
            <a:spAutoFit/>
          </a:bodyPr>
          <a:lstStyle/>
          <a:p>
            <a:pPr marL="357188" lvl="1" fontAlgn="base">
              <a:spcAft>
                <a:spcPts val="300"/>
              </a:spcAft>
              <a:defRPr/>
            </a:pPr>
            <a:r>
              <a:rPr kumimoji="0" lang="en-US" sz="1500" b="0" i="0" u="sng" strike="noStrike" kern="0" cap="none" spc="0" normalizeH="0" baseline="0" noProof="0" dirty="0">
                <a:ln>
                  <a:noFill/>
                </a:ln>
                <a:effectLst/>
                <a:uLnTx/>
                <a:uFillTx/>
                <a:latin typeface="Arial" panose="020B0604020202020204"/>
                <a:cs typeface="Arial"/>
                <a:sym typeface="Arial"/>
              </a:rPr>
              <a:t>Challenges</a:t>
            </a:r>
          </a:p>
          <a:p>
            <a:pPr marL="630238" lvl="1" indent="-273050" fontAlgn="base">
              <a:spcAft>
                <a:spcPts val="300"/>
              </a:spcAft>
              <a:buFont typeface="Wingdings" panose="05000000000000000000" pitchFamily="2" charset="2"/>
              <a:buChar char="ü"/>
              <a:defRPr/>
            </a:pPr>
            <a:r>
              <a:rPr kumimoji="0" lang="en-US" sz="1500" b="0" i="0" u="none" strike="noStrike" kern="0" cap="none" spc="0" normalizeH="0" baseline="0" noProof="0" dirty="0">
                <a:ln>
                  <a:noFill/>
                </a:ln>
                <a:effectLst/>
                <a:uLnTx/>
                <a:uFillTx/>
                <a:latin typeface="Arial" panose="020B0604020202020204"/>
                <a:cs typeface="Arial"/>
                <a:sym typeface="Arial"/>
              </a:rPr>
              <a:t>High </a:t>
            </a:r>
            <a:r>
              <a:rPr kumimoji="0" lang="en-US" sz="1500" b="0" i="0" u="none" strike="noStrike" kern="0" cap="none" spc="0" normalizeH="0" baseline="0" noProof="0" dirty="0" err="1">
                <a:ln>
                  <a:noFill/>
                </a:ln>
                <a:effectLst/>
                <a:uLnTx/>
                <a:uFillTx/>
                <a:latin typeface="Arial" panose="020B0604020202020204"/>
                <a:cs typeface="Arial"/>
                <a:sym typeface="Arial"/>
              </a:rPr>
              <a:t>CoGs</a:t>
            </a:r>
            <a:r>
              <a:rPr kumimoji="0" lang="en-US" sz="1500" b="0" i="0" u="none" strike="noStrike" kern="0" cap="none" spc="0" normalizeH="0" baseline="0" noProof="0" dirty="0">
                <a:ln>
                  <a:noFill/>
                </a:ln>
                <a:effectLst/>
                <a:uLnTx/>
                <a:uFillTx/>
                <a:latin typeface="Arial" panose="020B0604020202020204"/>
                <a:cs typeface="Arial"/>
                <a:sym typeface="Arial"/>
              </a:rPr>
              <a:t> (lack of volume, unimproved process, manufacturing facilities in high-risk countries);</a:t>
            </a:r>
          </a:p>
          <a:p>
            <a:pPr marL="630238" lvl="1" indent="-273050" fontAlgn="base">
              <a:spcAft>
                <a:spcPts val="300"/>
              </a:spcAft>
              <a:buFont typeface="Wingdings" panose="05000000000000000000" pitchFamily="2" charset="2"/>
              <a:buChar char="ü"/>
              <a:defRPr/>
            </a:pPr>
            <a:r>
              <a:rPr kumimoji="0" lang="en-US" sz="1500" b="0" i="0" u="none" strike="noStrike" kern="0" cap="none" spc="0" normalizeH="0" baseline="0" noProof="0" dirty="0">
                <a:ln>
                  <a:noFill/>
                </a:ln>
                <a:effectLst/>
                <a:uLnTx/>
                <a:uFillTx/>
                <a:latin typeface="Arial" panose="020B0604020202020204"/>
                <a:cs typeface="Arial"/>
                <a:sym typeface="Arial"/>
              </a:rPr>
              <a:t>Non-quality assured product and/or product that does not meet ICH guidelines;</a:t>
            </a:r>
          </a:p>
          <a:p>
            <a:pPr marL="630238" lvl="1" indent="-273050" fontAlgn="base">
              <a:spcAft>
                <a:spcPts val="300"/>
              </a:spcAft>
              <a:buFont typeface="Wingdings" panose="05000000000000000000" pitchFamily="2" charset="2"/>
              <a:buChar char="ü"/>
              <a:defRPr/>
            </a:pPr>
            <a:r>
              <a:rPr kumimoji="0" lang="en-US" sz="1500" b="0" i="0" u="none" strike="noStrike" kern="0" cap="none" spc="0" normalizeH="0" baseline="0" noProof="0" dirty="0">
                <a:ln>
                  <a:noFill/>
                </a:ln>
                <a:effectLst/>
                <a:uLnTx/>
                <a:uFillTx/>
                <a:latin typeface="Arial" panose="020B0604020202020204"/>
                <a:cs typeface="Arial"/>
                <a:sym typeface="Arial"/>
              </a:rPr>
              <a:t>Poor long-term forecasts and unwillingness of manufacturers to take risks and increase capacity.</a:t>
            </a:r>
            <a:endParaRPr lang="en-US" sz="1500" dirty="0"/>
          </a:p>
        </p:txBody>
      </p:sp>
      <p:sp>
        <p:nvSpPr>
          <p:cNvPr id="9" name="TextBox 8">
            <a:extLst>
              <a:ext uri="{FF2B5EF4-FFF2-40B4-BE49-F238E27FC236}">
                <a16:creationId xmlns:a16="http://schemas.microsoft.com/office/drawing/2014/main" id="{2B1FDD1A-FEA7-0687-185D-83457B9C84D4}"/>
              </a:ext>
            </a:extLst>
          </p:cNvPr>
          <p:cNvSpPr txBox="1"/>
          <p:nvPr/>
        </p:nvSpPr>
        <p:spPr>
          <a:xfrm>
            <a:off x="5292090" y="4445287"/>
            <a:ext cx="6896589" cy="2298065"/>
          </a:xfrm>
          <a:prstGeom prst="rect">
            <a:avLst/>
          </a:prstGeom>
          <a:noFill/>
        </p:spPr>
        <p:txBody>
          <a:bodyPr wrap="square">
            <a:spAutoFit/>
          </a:bodyPr>
          <a:lstStyle/>
          <a:p>
            <a:pPr marL="357188" lvl="1" fontAlgn="base">
              <a:spcAft>
                <a:spcPts val="200"/>
              </a:spcAft>
              <a:defRPr/>
            </a:pPr>
            <a:r>
              <a:rPr kumimoji="0" lang="en-US" sz="1500" b="0" i="0" u="sng" strike="noStrike" kern="0" cap="none" spc="0" normalizeH="0" baseline="0" noProof="0" dirty="0">
                <a:ln>
                  <a:noFill/>
                </a:ln>
                <a:solidFill>
                  <a:srgbClr val="0B1E2F"/>
                </a:solidFill>
                <a:effectLst/>
                <a:uLnTx/>
                <a:uFillTx/>
                <a:latin typeface="Arial" panose="020B0604020202020204"/>
                <a:cs typeface="Arial"/>
                <a:sym typeface="Arial"/>
              </a:rPr>
              <a:t>Solutions</a:t>
            </a:r>
          </a:p>
          <a:p>
            <a:pPr marL="630238" lvl="1" indent="-273050" fontAlgn="base">
              <a:spcAft>
                <a:spcPts val="200"/>
              </a:spcAft>
              <a:buFont typeface="Wingdings" panose="05000000000000000000" pitchFamily="2" charset="2"/>
              <a:buChar char="ü"/>
              <a:defRPr/>
            </a:pPr>
            <a:r>
              <a:rPr kumimoji="0" lang="en-US" sz="1500" b="0" i="0" u="none" strike="noStrike" kern="0" cap="none" spc="0" normalizeH="0" baseline="0" noProof="0" dirty="0">
                <a:ln>
                  <a:noFill/>
                </a:ln>
                <a:solidFill>
                  <a:srgbClr val="0B1E2F"/>
                </a:solidFill>
                <a:effectLst/>
                <a:uLnTx/>
                <a:uFillTx/>
                <a:latin typeface="Arial" panose="020B0604020202020204"/>
                <a:cs typeface="Arial"/>
                <a:sym typeface="Arial"/>
              </a:rPr>
              <a:t>Bring Technical Assistance (only) to support the move to a Quality Assured line; </a:t>
            </a:r>
          </a:p>
          <a:p>
            <a:pPr marL="630238" lvl="1" indent="-273050" fontAlgn="base">
              <a:spcAft>
                <a:spcPts val="200"/>
              </a:spcAft>
              <a:buFont typeface="Wingdings" panose="05000000000000000000" pitchFamily="2" charset="2"/>
              <a:buChar char="ü"/>
              <a:defRPr/>
            </a:pPr>
            <a:r>
              <a:rPr kumimoji="0" lang="en-US" sz="1500" b="0" i="0" u="none" strike="noStrike" kern="0" cap="none" spc="0" normalizeH="0" baseline="0" noProof="0" dirty="0">
                <a:ln>
                  <a:noFill/>
                </a:ln>
                <a:solidFill>
                  <a:srgbClr val="0B1E2F"/>
                </a:solidFill>
                <a:effectLst/>
                <a:uLnTx/>
                <a:uFillTx/>
                <a:latin typeface="Arial" panose="020B0604020202020204"/>
                <a:cs typeface="Arial"/>
                <a:sym typeface="Arial"/>
              </a:rPr>
              <a:t>Develop </a:t>
            </a:r>
            <a:r>
              <a:rPr lang="en-US" sz="1500" dirty="0">
                <a:solidFill>
                  <a:srgbClr val="0B1E2F"/>
                </a:solidFill>
              </a:rPr>
              <a:t>more reliable </a:t>
            </a:r>
            <a:r>
              <a:rPr kumimoji="0" lang="en-US" sz="1500" b="0" i="0" u="none" strike="noStrike" kern="0" cap="none" spc="0" normalizeH="0" baseline="0" noProof="0" dirty="0">
                <a:ln>
                  <a:noFill/>
                </a:ln>
                <a:solidFill>
                  <a:srgbClr val="0B1E2F"/>
                </a:solidFill>
                <a:effectLst/>
                <a:uLnTx/>
                <a:uFillTx/>
                <a:latin typeface="Arial" panose="020B0604020202020204"/>
                <a:cs typeface="Arial"/>
                <a:sym typeface="Arial"/>
              </a:rPr>
              <a:t>forecasting tools; back a volume guarantee (?)</a:t>
            </a:r>
            <a:endParaRPr kumimoji="0" lang="en-CH" sz="1500" b="0" i="0" u="none" strike="noStrike" kern="0" cap="none" spc="0" normalizeH="0" baseline="0" noProof="0" dirty="0">
              <a:ln>
                <a:noFill/>
              </a:ln>
              <a:solidFill>
                <a:srgbClr val="0B1E2F"/>
              </a:solidFill>
              <a:effectLst/>
              <a:uLnTx/>
              <a:uFillTx/>
              <a:latin typeface="Arial" panose="020B0604020202020204"/>
              <a:cs typeface="Arial"/>
              <a:sym typeface="Arial"/>
            </a:endParaRPr>
          </a:p>
          <a:p>
            <a:pPr marL="630238" lvl="1" indent="-273050" fontAlgn="base">
              <a:spcAft>
                <a:spcPts val="200"/>
              </a:spcAft>
              <a:buFont typeface="Wingdings" panose="05000000000000000000" pitchFamily="2" charset="2"/>
              <a:buChar char="ü"/>
              <a:defRPr/>
            </a:pPr>
            <a:r>
              <a:rPr lang="en-CH" sz="1500" dirty="0">
                <a:solidFill>
                  <a:srgbClr val="0B1E2F"/>
                </a:solidFill>
              </a:rPr>
              <a:t>Consider PQ to  guarantee quality, expand registration and thus market</a:t>
            </a:r>
            <a:endParaRPr lang="en-US" sz="1500" dirty="0">
              <a:solidFill>
                <a:srgbClr val="0B1E2F"/>
              </a:solidFill>
            </a:endParaRPr>
          </a:p>
          <a:p>
            <a:pPr marL="630238" lvl="1" indent="-273050" fontAlgn="base">
              <a:spcAft>
                <a:spcPts val="200"/>
              </a:spcAft>
              <a:buFont typeface="Wingdings" panose="05000000000000000000" pitchFamily="2" charset="2"/>
              <a:buChar char="ü"/>
              <a:defRPr/>
            </a:pPr>
            <a:r>
              <a:rPr kumimoji="0" lang="en-US" sz="1500" b="0" i="0" u="none" strike="noStrike" kern="0" cap="none" spc="0" normalizeH="0" baseline="0" noProof="0" dirty="0">
                <a:ln>
                  <a:noFill/>
                </a:ln>
                <a:solidFill>
                  <a:srgbClr val="0B1E2F"/>
                </a:solidFill>
                <a:effectLst/>
                <a:uLnTx/>
                <a:uFillTx/>
                <a:latin typeface="Arial" panose="020B0604020202020204"/>
                <a:cs typeface="Arial"/>
                <a:sym typeface="Arial"/>
              </a:rPr>
              <a:t>Support CMC activities to identify manufacturing efficiencies and impact on the </a:t>
            </a:r>
            <a:r>
              <a:rPr kumimoji="0" lang="en-US" sz="1500" b="0" i="0" u="none" strike="noStrike" kern="0" cap="none" spc="0" normalizeH="0" baseline="0" noProof="0" dirty="0" err="1">
                <a:ln>
                  <a:noFill/>
                </a:ln>
                <a:solidFill>
                  <a:srgbClr val="0B1E2F"/>
                </a:solidFill>
                <a:effectLst/>
                <a:uLnTx/>
                <a:uFillTx/>
                <a:latin typeface="Arial" panose="020B0604020202020204"/>
                <a:cs typeface="Arial"/>
                <a:sym typeface="Arial"/>
              </a:rPr>
              <a:t>CoGs</a:t>
            </a:r>
            <a:endParaRPr kumimoji="0" lang="en-US" sz="1500" b="0" i="0" u="none" strike="noStrike" kern="0" cap="none" spc="0" normalizeH="0" baseline="0" noProof="0" dirty="0">
              <a:ln>
                <a:noFill/>
              </a:ln>
              <a:solidFill>
                <a:srgbClr val="0B1E2F"/>
              </a:solidFill>
              <a:effectLst/>
              <a:uLnTx/>
              <a:uFillTx/>
              <a:latin typeface="Arial" panose="020B0604020202020204"/>
              <a:cs typeface="Arial"/>
              <a:sym typeface="Arial"/>
            </a:endParaRPr>
          </a:p>
          <a:p>
            <a:pPr marL="642938" lvl="1" indent="-285750" fontAlgn="base">
              <a:spcAft>
                <a:spcPts val="200"/>
              </a:spcAft>
              <a:buFont typeface="Wingdings" panose="05000000000000000000" pitchFamily="2" charset="2"/>
              <a:buChar char="Ø"/>
              <a:defRPr/>
            </a:pPr>
            <a:r>
              <a:rPr lang="en-US" sz="1500" b="1" dirty="0">
                <a:solidFill>
                  <a:srgbClr val="C00000"/>
                </a:solidFill>
              </a:rPr>
              <a:t>But at this level, no decision has been taken regarding GARDP interest </a:t>
            </a:r>
            <a:r>
              <a:rPr lang="en-US" sz="1500" b="1" u="sng" dirty="0">
                <a:solidFill>
                  <a:srgbClr val="C00000"/>
                </a:solidFill>
              </a:rPr>
              <a:t>in investing in manufacturing </a:t>
            </a:r>
          </a:p>
        </p:txBody>
      </p:sp>
      <p:sp>
        <p:nvSpPr>
          <p:cNvPr id="10" name="Isosceles Triangle 9">
            <a:extLst>
              <a:ext uri="{FF2B5EF4-FFF2-40B4-BE49-F238E27FC236}">
                <a16:creationId xmlns:a16="http://schemas.microsoft.com/office/drawing/2014/main" id="{F6738930-0BDB-809A-D4F4-E9A3D26706FD}"/>
              </a:ext>
            </a:extLst>
          </p:cNvPr>
          <p:cNvSpPr/>
          <p:nvPr/>
        </p:nvSpPr>
        <p:spPr>
          <a:xfrm rot="5400000">
            <a:off x="4709381" y="5554406"/>
            <a:ext cx="1706936" cy="179558"/>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a:extLst>
              <a:ext uri="{FF2B5EF4-FFF2-40B4-BE49-F238E27FC236}">
                <a16:creationId xmlns:a16="http://schemas.microsoft.com/office/drawing/2014/main" id="{7472A088-3B38-296A-A626-F1F5867260B9}"/>
              </a:ext>
            </a:extLst>
          </p:cNvPr>
          <p:cNvGraphicFramePr>
            <a:graphicFrameLocks noGrp="1"/>
          </p:cNvGraphicFramePr>
          <p:nvPr/>
        </p:nvGraphicFramePr>
        <p:xfrm>
          <a:off x="1917700" y="2390140"/>
          <a:ext cx="8986521" cy="1325880"/>
        </p:xfrm>
        <a:graphic>
          <a:graphicData uri="http://schemas.openxmlformats.org/drawingml/2006/table">
            <a:tbl>
              <a:tblPr firstRow="1" bandRow="1">
                <a:tableStyleId>{F5AB1C69-6EDB-4FF4-983F-18BD219EF322}</a:tableStyleId>
              </a:tblPr>
              <a:tblGrid>
                <a:gridCol w="2425700">
                  <a:extLst>
                    <a:ext uri="{9D8B030D-6E8A-4147-A177-3AD203B41FA5}">
                      <a16:colId xmlns:a16="http://schemas.microsoft.com/office/drawing/2014/main" val="4182030571"/>
                    </a:ext>
                  </a:extLst>
                </a:gridCol>
                <a:gridCol w="3061695">
                  <a:extLst>
                    <a:ext uri="{9D8B030D-6E8A-4147-A177-3AD203B41FA5}">
                      <a16:colId xmlns:a16="http://schemas.microsoft.com/office/drawing/2014/main" val="1197722876"/>
                    </a:ext>
                  </a:extLst>
                </a:gridCol>
                <a:gridCol w="3499126">
                  <a:extLst>
                    <a:ext uri="{9D8B030D-6E8A-4147-A177-3AD203B41FA5}">
                      <a16:colId xmlns:a16="http://schemas.microsoft.com/office/drawing/2014/main" val="3962316254"/>
                    </a:ext>
                  </a:extLst>
                </a:gridCol>
              </a:tblGrid>
              <a:tr h="0">
                <a:tc>
                  <a:txBody>
                    <a:bodyPr/>
                    <a:lstStyle/>
                    <a:p>
                      <a:endParaRPr lang="en-US" sz="1300"/>
                    </a:p>
                  </a:txBody>
                  <a:tcPr/>
                </a:tc>
                <a:tc>
                  <a:txBody>
                    <a:bodyPr/>
                    <a:lstStyle/>
                    <a:p>
                      <a:r>
                        <a:rPr lang="en-US" sz="1300" dirty="0"/>
                        <a:t>Flomoxef</a:t>
                      </a:r>
                    </a:p>
                  </a:txBody>
                  <a:tcPr/>
                </a:tc>
                <a:tc>
                  <a:txBody>
                    <a:bodyPr/>
                    <a:lstStyle/>
                    <a:p>
                      <a:r>
                        <a:rPr lang="en-US" sz="1300" dirty="0"/>
                        <a:t>IV Fosfomycin</a:t>
                      </a:r>
                    </a:p>
                  </a:txBody>
                  <a:tcPr/>
                </a:tc>
                <a:extLst>
                  <a:ext uri="{0D108BD9-81ED-4DB2-BD59-A6C34878D82A}">
                    <a16:rowId xmlns:a16="http://schemas.microsoft.com/office/drawing/2014/main" val="2176610524"/>
                  </a:ext>
                </a:extLst>
              </a:tr>
              <a:tr h="0">
                <a:tc>
                  <a:txBody>
                    <a:bodyPr/>
                    <a:lstStyle/>
                    <a:p>
                      <a:r>
                        <a:rPr lang="en-US" sz="1300" dirty="0"/>
                        <a:t>2023 WW market (2019)</a:t>
                      </a:r>
                    </a:p>
                  </a:txBody>
                  <a:tcPr/>
                </a:tc>
                <a:tc>
                  <a:txBody>
                    <a:bodyPr/>
                    <a:lstStyle/>
                    <a:p>
                      <a:r>
                        <a:rPr lang="en-US" sz="1300" dirty="0"/>
                        <a:t>48 M$  (76 M$)</a:t>
                      </a:r>
                    </a:p>
                  </a:txBody>
                  <a:tcPr/>
                </a:tc>
                <a:tc>
                  <a:txBody>
                    <a:bodyPr/>
                    <a:lstStyle/>
                    <a:p>
                      <a:r>
                        <a:rPr lang="en-US" sz="1300" dirty="0"/>
                        <a:t>136 M$</a:t>
                      </a:r>
                    </a:p>
                  </a:txBody>
                  <a:tcPr/>
                </a:tc>
                <a:extLst>
                  <a:ext uri="{0D108BD9-81ED-4DB2-BD59-A6C34878D82A}">
                    <a16:rowId xmlns:a16="http://schemas.microsoft.com/office/drawing/2014/main" val="244582119"/>
                  </a:ext>
                </a:extLst>
              </a:tr>
              <a:tr h="0">
                <a:tc>
                  <a:txBody>
                    <a:bodyPr/>
                    <a:lstStyle/>
                    <a:p>
                      <a:r>
                        <a:rPr lang="en-US" sz="1300" dirty="0"/>
                        <a:t>Nb of countries with MAH</a:t>
                      </a:r>
                    </a:p>
                  </a:txBody>
                  <a:tcPr/>
                </a:tc>
                <a:tc>
                  <a:txBody>
                    <a:bodyPr/>
                    <a:lstStyle/>
                    <a:p>
                      <a:r>
                        <a:rPr lang="en-US" sz="1300" dirty="0"/>
                        <a:t>4  </a:t>
                      </a:r>
                      <a:r>
                        <a:rPr lang="en-US" sz="1100" dirty="0"/>
                        <a:t>[The Japanese market has fallen from $28M to $11M over the last 5 years]</a:t>
                      </a:r>
                    </a:p>
                  </a:txBody>
                  <a:tcPr/>
                </a:tc>
                <a:tc>
                  <a:txBody>
                    <a:bodyPr/>
                    <a:lstStyle/>
                    <a:p>
                      <a:r>
                        <a:rPr lang="en-US" sz="1300" dirty="0"/>
                        <a:t>35  </a:t>
                      </a:r>
                      <a:r>
                        <a:rPr lang="en-US" sz="1100" dirty="0"/>
                        <a:t>[</a:t>
                      </a:r>
                      <a:r>
                        <a:rPr lang="en-US" sz="1100" b="0" i="0" u="none" strike="noStrike" cap="none" baseline="0" dirty="0">
                          <a:solidFill>
                            <a:schemeClr val="dk1"/>
                          </a:solidFill>
                          <a:latin typeface="+mn-lt"/>
                          <a:ea typeface="+mn-ea"/>
                          <a:cs typeface="+mn-cs"/>
                          <a:sym typeface="Arial"/>
                        </a:rPr>
                        <a:t>Top 5 markets (China, Germany, Italy, Australia, Thailand) make up &gt;80% of sales and volume]</a:t>
                      </a:r>
                      <a:endParaRPr lang="en-US" sz="1100" b="0" dirty="0"/>
                    </a:p>
                  </a:txBody>
                  <a:tcPr/>
                </a:tc>
                <a:extLst>
                  <a:ext uri="{0D108BD9-81ED-4DB2-BD59-A6C34878D82A}">
                    <a16:rowId xmlns:a16="http://schemas.microsoft.com/office/drawing/2014/main" val="3637130806"/>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dirty="0"/>
                        <a:t>API manufacturers + MAH</a:t>
                      </a:r>
                    </a:p>
                  </a:txBody>
                  <a:tcPr/>
                </a:tc>
                <a:tc>
                  <a:txBody>
                    <a:bodyPr/>
                    <a:lstStyle/>
                    <a:p>
                      <a:r>
                        <a:rPr lang="en-US" sz="1300" dirty="0"/>
                        <a:t>2 </a:t>
                      </a:r>
                      <a:r>
                        <a:rPr lang="en-US" sz="1100" dirty="0"/>
                        <a:t>(Shionogi and JEIL)</a:t>
                      </a:r>
                      <a:r>
                        <a:rPr lang="en-US" sz="1300" dirty="0"/>
                        <a:t> &amp; 4 MAH</a:t>
                      </a:r>
                    </a:p>
                  </a:txBody>
                  <a:tcPr/>
                </a:tc>
                <a:tc>
                  <a:txBody>
                    <a:bodyPr/>
                    <a:lstStyle/>
                    <a:p>
                      <a:r>
                        <a:rPr lang="en-US" sz="1300" dirty="0"/>
                        <a:t>4+ &amp; 50+ MAH</a:t>
                      </a:r>
                    </a:p>
                  </a:txBody>
                  <a:tcPr/>
                </a:tc>
                <a:extLst>
                  <a:ext uri="{0D108BD9-81ED-4DB2-BD59-A6C34878D82A}">
                    <a16:rowId xmlns:a16="http://schemas.microsoft.com/office/drawing/2014/main" val="2057982118"/>
                  </a:ext>
                </a:extLst>
              </a:tr>
            </a:tbl>
          </a:graphicData>
        </a:graphic>
      </p:graphicFrame>
      <p:sp>
        <p:nvSpPr>
          <p:cNvPr id="4" name="Title 1">
            <a:extLst>
              <a:ext uri="{FF2B5EF4-FFF2-40B4-BE49-F238E27FC236}">
                <a16:creationId xmlns:a16="http://schemas.microsoft.com/office/drawing/2014/main" id="{4CA74E7B-1FDF-DCFB-BE69-CBE128BF29C0}"/>
              </a:ext>
            </a:extLst>
          </p:cNvPr>
          <p:cNvSpPr txBox="1">
            <a:spLocks/>
          </p:cNvSpPr>
          <p:nvPr/>
        </p:nvSpPr>
        <p:spPr>
          <a:xfrm>
            <a:off x="495299" y="302897"/>
            <a:ext cx="11522530" cy="5170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eaLnBrk="1" hangingPunct="1">
              <a:lnSpc>
                <a:spcPct val="90000"/>
              </a:lnSpc>
              <a:spcBef>
                <a:spcPts val="0"/>
              </a:spcBef>
              <a:spcAft>
                <a:spcPts val="0"/>
              </a:spcAft>
              <a:buClr>
                <a:srgbClr val="0D202F"/>
              </a:buClr>
              <a:buSzPts val="3500"/>
              <a:buFont typeface="Arial"/>
              <a:buNone/>
              <a:defRPr sz="35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D202F"/>
              </a:buClr>
              <a:buSzPts val="3500"/>
              <a:buFont typeface="Arial"/>
              <a:buNone/>
              <a:tabLst/>
              <a:defRPr/>
            </a:pPr>
            <a:r>
              <a:rPr kumimoji="0" lang="en-US" sz="3200" b="1" i="0" u="none" strike="noStrike" kern="0" cap="none" spc="0" normalizeH="0" baseline="0" noProof="0" dirty="0">
                <a:ln>
                  <a:noFill/>
                </a:ln>
                <a:solidFill>
                  <a:srgbClr val="000000"/>
                </a:solidFill>
                <a:effectLst/>
                <a:uLnTx/>
                <a:uFillTx/>
                <a:latin typeface="Arial"/>
                <a:cs typeface="Arial"/>
                <a:sym typeface="Arial"/>
              </a:rPr>
              <a:t>Potential investment on manufacturing: b</a:t>
            </a:r>
            <a:r>
              <a:rPr lang="en-GB" b="1" dirty="0" err="1">
                <a:solidFill>
                  <a:srgbClr val="0D202F"/>
                </a:solidFill>
              </a:rPr>
              <a:t>ackground</a:t>
            </a:r>
            <a:endParaRPr kumimoji="0" lang="en-GB" sz="3500" b="1" i="0" u="none" strike="noStrike" kern="0" cap="none" spc="0" normalizeH="0" baseline="0" noProof="0" dirty="0">
              <a:ln>
                <a:noFill/>
              </a:ln>
              <a:solidFill>
                <a:srgbClr val="000000"/>
              </a:solidFill>
              <a:effectLst/>
              <a:uLnTx/>
              <a:uFillTx/>
              <a:latin typeface="Arial"/>
              <a:cs typeface="Arial"/>
              <a:sym typeface="Arial"/>
            </a:endParaRPr>
          </a:p>
        </p:txBody>
      </p:sp>
      <p:sp>
        <p:nvSpPr>
          <p:cNvPr id="3" name="Rectangle 2">
            <a:extLst>
              <a:ext uri="{FF2B5EF4-FFF2-40B4-BE49-F238E27FC236}">
                <a16:creationId xmlns:a16="http://schemas.microsoft.com/office/drawing/2014/main" id="{4E49D6A8-31F4-9A48-EC8E-40E17363EC39}"/>
              </a:ext>
            </a:extLst>
          </p:cNvPr>
          <p:cNvSpPr/>
          <p:nvPr/>
        </p:nvSpPr>
        <p:spPr>
          <a:xfrm>
            <a:off x="6096000" y="4827694"/>
            <a:ext cx="5726544" cy="1264496"/>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i="1" u="sng" dirty="0">
                <a:solidFill>
                  <a:schemeClr val="tx1"/>
                </a:solidFill>
              </a:rPr>
              <a:t>Option A</a:t>
            </a:r>
            <a:r>
              <a:rPr lang="en-US" sz="1400" i="1" dirty="0">
                <a:solidFill>
                  <a:schemeClr val="tx1"/>
                </a:solidFill>
              </a:rPr>
              <a:t>:  List of activities that GARDP may propose to </a:t>
            </a:r>
            <a:br>
              <a:rPr lang="en-US" sz="1400" i="1" dirty="0">
                <a:solidFill>
                  <a:schemeClr val="tx1"/>
                </a:solidFill>
              </a:rPr>
            </a:br>
            <a:r>
              <a:rPr lang="en-US" sz="1400" i="1" dirty="0">
                <a:solidFill>
                  <a:schemeClr val="tx1"/>
                </a:solidFill>
              </a:rPr>
              <a:t>manufacturers to improve the enabling environment </a:t>
            </a:r>
            <a:br>
              <a:rPr lang="en-US" sz="1400" i="1" dirty="0">
                <a:solidFill>
                  <a:schemeClr val="tx1"/>
                </a:solidFill>
              </a:rPr>
            </a:br>
            <a:r>
              <a:rPr lang="en-US" sz="1400" i="1" dirty="0">
                <a:solidFill>
                  <a:schemeClr val="tx1"/>
                </a:solidFill>
              </a:rPr>
              <a:t>&amp; market conditions for antibiotics</a:t>
            </a:r>
            <a:endParaRPr lang="en-US" i="1" dirty="0"/>
          </a:p>
        </p:txBody>
      </p:sp>
    </p:spTree>
    <p:extLst>
      <p:ext uri="{BB962C8B-B14F-4D97-AF65-F5344CB8AC3E}">
        <p14:creationId xmlns:p14="http://schemas.microsoft.com/office/powerpoint/2010/main" val="736808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9">
            <a:extLst>
              <a:ext uri="{FF2B5EF4-FFF2-40B4-BE49-F238E27FC236}">
                <a16:creationId xmlns:a16="http://schemas.microsoft.com/office/drawing/2014/main" id="{6D693A2F-197A-4944-8164-56AA507DCACA}"/>
              </a:ext>
            </a:extLst>
          </p:cNvPr>
          <p:cNvSpPr txBox="1">
            <a:spLocks/>
          </p:cNvSpPr>
          <p:nvPr/>
        </p:nvSpPr>
        <p:spPr>
          <a:xfrm>
            <a:off x="11591474" y="6528004"/>
            <a:ext cx="562915" cy="303274"/>
          </a:xfrm>
          <a:prstGeom prst="rect">
            <a:avLst/>
          </a:prstGeom>
          <a:noFill/>
          <a:ln>
            <a:no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spcFirstLastPara="1" wrap="square" lIns="45719" tIns="45719" rIns="45719" bIns="45719" anchor="t" anchorCtr="0">
            <a:noAutofit/>
          </a:bodyPr>
          <a:lstStyle>
            <a:defPPr marR="0" lvl="0" algn="l" rtl="0">
              <a:lnSpc>
                <a:spcPct val="100000"/>
              </a:lnSpc>
              <a:spcBef>
                <a:spcPts val="0"/>
              </a:spcBef>
              <a:spcAft>
                <a:spcPts val="0"/>
              </a:spcAft>
            </a:defPPr>
            <a:lvl1pPr marL="457200" marR="0" lvl="0" indent="-228600" algn="l" rtl="0" eaLnBrk="1" hangingPunct="1">
              <a:lnSpc>
                <a:spcPct val="90000"/>
              </a:lnSpc>
              <a:spcBef>
                <a:spcPts val="1000"/>
              </a:spcBef>
              <a:spcAft>
                <a:spcPts val="0"/>
              </a:spcAft>
              <a:buClr>
                <a:srgbClr val="18A1AB"/>
              </a:buClr>
              <a:buSzPts val="2400"/>
              <a:buFont typeface="Arial"/>
              <a:buNone/>
              <a:defRPr sz="1000" b="0" i="0" u="none" strike="noStrike" cap="none">
                <a:solidFill>
                  <a:srgbClr val="000000"/>
                </a:solidFill>
                <a:latin typeface="Arial"/>
                <a:ea typeface="Arial"/>
                <a:cs typeface="Arial"/>
                <a:sym typeface="Arial"/>
              </a:defRPr>
            </a:lvl1pPr>
            <a:lvl2pPr marL="914400" marR="0" lvl="1"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marL="457200" marR="0" lvl="0" indent="-228600" algn="ctr" defTabSz="914400" rtl="0" eaLnBrk="1" fontAlgn="auto" latinLnBrk="0" hangingPunct="1">
              <a:lnSpc>
                <a:spcPct val="90000"/>
              </a:lnSpc>
              <a:spcBef>
                <a:spcPts val="1000"/>
              </a:spcBef>
              <a:spcAft>
                <a:spcPts val="0"/>
              </a:spcAft>
              <a:buClr>
                <a:srgbClr val="18A1AB"/>
              </a:buClr>
              <a:buSzPts val="2400"/>
              <a:buFont typeface="Arial"/>
              <a:buNone/>
              <a:tabLst/>
              <a:defRPr/>
            </a:pPr>
            <a:fld id="{86CB4B4D-7CA3-9044-876B-883B54F8677D}" type="slidenum">
              <a:rPr kumimoji="0" lang="en-GB" sz="800" b="0" i="0" u="none" strike="noStrike" kern="0" cap="none" spc="0" normalizeH="0" baseline="0" noProof="0" smtClean="0">
                <a:ln>
                  <a:noFill/>
                </a:ln>
                <a:effectLst/>
                <a:uLnTx/>
                <a:uFillTx/>
                <a:latin typeface="Arial"/>
                <a:cs typeface="Arial"/>
                <a:sym typeface="Arial"/>
              </a:rPr>
              <a:pPr marL="457200" marR="0" lvl="0" indent="-228600" algn="ctr" defTabSz="914400" rtl="0" eaLnBrk="1" fontAlgn="auto" latinLnBrk="0" hangingPunct="1">
                <a:lnSpc>
                  <a:spcPct val="90000"/>
                </a:lnSpc>
                <a:spcBef>
                  <a:spcPts val="1000"/>
                </a:spcBef>
                <a:spcAft>
                  <a:spcPts val="0"/>
                </a:spcAft>
                <a:buClr>
                  <a:srgbClr val="18A1AB"/>
                </a:buClr>
                <a:buSzPts val="2400"/>
                <a:buFont typeface="Arial"/>
                <a:buNone/>
                <a:tabLst/>
                <a:defRPr/>
              </a:pPr>
              <a:t>8</a:t>
            </a:fld>
            <a:endParaRPr kumimoji="0" lang="en-GB" sz="800" b="0" i="0" u="none" strike="noStrike" kern="0" cap="none" spc="0" normalizeH="0" baseline="0" noProof="0" dirty="0">
              <a:ln>
                <a:noFill/>
              </a:ln>
              <a:effectLst/>
              <a:uLnTx/>
              <a:uFillTx/>
              <a:latin typeface="Arial"/>
              <a:cs typeface="Arial"/>
              <a:sym typeface="Arial"/>
            </a:endParaRPr>
          </a:p>
        </p:txBody>
      </p:sp>
      <p:cxnSp>
        <p:nvCxnSpPr>
          <p:cNvPr id="2" name="Straight Connector 1">
            <a:extLst>
              <a:ext uri="{FF2B5EF4-FFF2-40B4-BE49-F238E27FC236}">
                <a16:creationId xmlns:a16="http://schemas.microsoft.com/office/drawing/2014/main" id="{DA4F0FC3-A77B-B0FA-E587-9F88B0F50650}"/>
              </a:ext>
            </a:extLst>
          </p:cNvPr>
          <p:cNvCxnSpPr/>
          <p:nvPr/>
        </p:nvCxnSpPr>
        <p:spPr>
          <a:xfrm>
            <a:off x="607860" y="980168"/>
            <a:ext cx="3600000" cy="0"/>
          </a:xfrm>
          <a:prstGeom prst="line">
            <a:avLst/>
          </a:prstGeom>
          <a:ln w="19050">
            <a:solidFill>
              <a:srgbClr val="0B6377"/>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56C28AFF-9D81-D83C-E074-C66988973DCC}"/>
              </a:ext>
            </a:extLst>
          </p:cNvPr>
          <p:cNvSpPr txBox="1">
            <a:spLocks/>
          </p:cNvSpPr>
          <p:nvPr/>
        </p:nvSpPr>
        <p:spPr>
          <a:xfrm>
            <a:off x="495299" y="302897"/>
            <a:ext cx="11522530" cy="5170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eaLnBrk="1" hangingPunct="1">
              <a:lnSpc>
                <a:spcPct val="90000"/>
              </a:lnSpc>
              <a:spcBef>
                <a:spcPts val="0"/>
              </a:spcBef>
              <a:spcAft>
                <a:spcPts val="0"/>
              </a:spcAft>
              <a:buClr>
                <a:srgbClr val="0D202F"/>
              </a:buClr>
              <a:buSzPts val="3500"/>
              <a:buFont typeface="Arial"/>
              <a:buNone/>
              <a:defRPr sz="35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D202F"/>
              </a:buClr>
              <a:buSzPts val="3500"/>
              <a:buFont typeface="Arial"/>
              <a:buNone/>
              <a:tabLst/>
              <a:defRPr/>
            </a:pPr>
            <a:r>
              <a:rPr lang="en-GB" b="1" dirty="0"/>
              <a:t>Invest in manufacturing: impact</a:t>
            </a:r>
            <a:endParaRPr kumimoji="0" lang="en-GB" sz="3500" b="1" i="0" u="none" strike="noStrike" kern="0" cap="none" spc="0" normalizeH="0" baseline="0" noProof="0" dirty="0">
              <a:ln>
                <a:noFill/>
              </a:ln>
              <a:effectLst/>
              <a:uLnTx/>
              <a:uFillTx/>
              <a:latin typeface="Arial"/>
              <a:cs typeface="Arial"/>
              <a:sym typeface="Arial"/>
            </a:endParaRPr>
          </a:p>
        </p:txBody>
      </p:sp>
      <p:sp>
        <p:nvSpPr>
          <p:cNvPr id="5" name="Text Placeholder 3">
            <a:extLst>
              <a:ext uri="{FF2B5EF4-FFF2-40B4-BE49-F238E27FC236}">
                <a16:creationId xmlns:a16="http://schemas.microsoft.com/office/drawing/2014/main" id="{9D0E1E26-3DC4-78AF-BA33-7698349891F3}"/>
              </a:ext>
            </a:extLst>
          </p:cNvPr>
          <p:cNvSpPr txBox="1">
            <a:spLocks/>
          </p:cNvSpPr>
          <p:nvPr/>
        </p:nvSpPr>
        <p:spPr>
          <a:xfrm>
            <a:off x="564717" y="1103658"/>
            <a:ext cx="10895888" cy="446889"/>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1" u="none" strike="noStrike" kern="0" cap="none" spc="0" normalizeH="0" baseline="0" noProof="0" dirty="0">
                <a:ln>
                  <a:noFill/>
                </a:ln>
                <a:effectLst/>
                <a:uLnTx/>
                <a:uFillTx/>
                <a:latin typeface="Arial"/>
                <a:cs typeface="Arial"/>
                <a:sym typeface="Arial"/>
              </a:rPr>
              <a:t>Investment in the manufacture of generic products can have a fairly wide-ranging impact for GARDP</a:t>
            </a:r>
          </a:p>
        </p:txBody>
      </p:sp>
      <p:sp>
        <p:nvSpPr>
          <p:cNvPr id="13" name="TextBox 12">
            <a:extLst>
              <a:ext uri="{FF2B5EF4-FFF2-40B4-BE49-F238E27FC236}">
                <a16:creationId xmlns:a16="http://schemas.microsoft.com/office/drawing/2014/main" id="{4A25C7B6-E7C6-C18D-4D11-69DB2C94B4C5}"/>
              </a:ext>
            </a:extLst>
          </p:cNvPr>
          <p:cNvSpPr txBox="1"/>
          <p:nvPr/>
        </p:nvSpPr>
        <p:spPr>
          <a:xfrm>
            <a:off x="912449" y="1784935"/>
            <a:ext cx="10910095" cy="3356606"/>
          </a:xfrm>
          <a:prstGeom prst="rect">
            <a:avLst/>
          </a:prstGeom>
          <a:noFill/>
        </p:spPr>
        <p:txBody>
          <a:bodyPr wrap="square">
            <a:noAutofit/>
          </a:bodyPr>
          <a:lstStyle/>
          <a:p>
            <a:pPr marL="285750" marR="0" lvl="0" indent="-285750" algn="l" defTabSz="914400" rtl="0" eaLnBrk="1" fontAlgn="base" latinLnBrk="0" hangingPunct="1">
              <a:lnSpc>
                <a:spcPct val="100000"/>
              </a:lnSpc>
              <a:spcBef>
                <a:spcPts val="0"/>
              </a:spcBef>
              <a:spcAft>
                <a:spcPts val="300"/>
              </a:spcAft>
              <a:buClr>
                <a:srgbClr val="000000"/>
              </a:buClr>
              <a:buSzTx/>
              <a:buFont typeface="Arial" panose="020B0604020202020204" pitchFamily="34" charset="0"/>
              <a:buChar char="•"/>
              <a:tabLst/>
              <a:defRPr/>
            </a:pPr>
            <a:r>
              <a:rPr lang="en-US" sz="1700" dirty="0"/>
              <a:t>By investing in the manufacture of generic products, GARDP will be able to influence this unstable market, have an impact on </a:t>
            </a:r>
            <a:r>
              <a:rPr lang="en-US" sz="1700" dirty="0" err="1"/>
              <a:t>CoGs</a:t>
            </a:r>
            <a:r>
              <a:rPr lang="en-US" sz="1700" dirty="0"/>
              <a:t> and reassure manufacturers so that they remain committed to this market.</a:t>
            </a:r>
          </a:p>
          <a:p>
            <a:pPr marL="285750" marR="0" lvl="0" indent="-285750" algn="l" defTabSz="914400" rtl="0" eaLnBrk="1" fontAlgn="base" latinLnBrk="0" hangingPunct="1">
              <a:lnSpc>
                <a:spcPct val="100000"/>
              </a:lnSpc>
              <a:spcBef>
                <a:spcPts val="0"/>
              </a:spcBef>
              <a:spcAft>
                <a:spcPts val="300"/>
              </a:spcAft>
              <a:buClr>
                <a:srgbClr val="000000"/>
              </a:buClr>
              <a:buSzTx/>
              <a:buFont typeface="Arial" panose="020B0604020202020204" pitchFamily="34" charset="0"/>
              <a:buChar char="•"/>
              <a:tabLst/>
              <a:defRPr/>
            </a:pPr>
            <a:endParaRPr lang="en-US" sz="500" dirty="0"/>
          </a:p>
          <a:p>
            <a:pPr marL="285750" marR="0" lvl="0" indent="-285750" algn="l" defTabSz="914400" rtl="0" eaLnBrk="1" fontAlgn="base" latinLnBrk="0" hangingPunct="1">
              <a:lnSpc>
                <a:spcPct val="100000"/>
              </a:lnSpc>
              <a:spcBef>
                <a:spcPts val="0"/>
              </a:spcBef>
              <a:spcAft>
                <a:spcPts val="300"/>
              </a:spcAft>
              <a:buClr>
                <a:srgbClr val="000000"/>
              </a:buClr>
              <a:buSzTx/>
              <a:buFont typeface="Arial" panose="020B0604020202020204" pitchFamily="34" charset="0"/>
              <a:buChar char="•"/>
              <a:tabLst/>
              <a:defRPr/>
            </a:pPr>
            <a:r>
              <a:rPr lang="en-US" sz="1700" dirty="0"/>
              <a:t>Some companies are already waiting for financial support from GARDP to meet some of the challenges mentioned above.</a:t>
            </a:r>
            <a:endParaRPr lang="en-US" sz="2000" dirty="0"/>
          </a:p>
          <a:p>
            <a:pPr marL="357188" lvl="1" fontAlgn="base">
              <a:spcAft>
                <a:spcPts val="300"/>
              </a:spcAft>
              <a:defRPr/>
            </a:pPr>
            <a:endParaRPr lang="en-US" sz="2000" dirty="0"/>
          </a:p>
          <a:p>
            <a:pPr marL="357188" lvl="1" fontAlgn="base">
              <a:spcAft>
                <a:spcPts val="300"/>
              </a:spcAft>
              <a:defRPr/>
            </a:pPr>
            <a:endParaRPr lang="en-US" sz="2000" dirty="0"/>
          </a:p>
          <a:p>
            <a:pPr marL="357188" lvl="1" fontAlgn="base">
              <a:spcAft>
                <a:spcPts val="300"/>
              </a:spcAft>
              <a:defRPr/>
            </a:pPr>
            <a:endParaRPr lang="en-US" sz="2000" dirty="0"/>
          </a:p>
          <a:p>
            <a:pPr marL="357188" lvl="1" fontAlgn="base">
              <a:spcAft>
                <a:spcPts val="300"/>
              </a:spcAft>
              <a:defRPr/>
            </a:pPr>
            <a:endParaRPr lang="en-US" sz="1500" dirty="0"/>
          </a:p>
          <a:p>
            <a:pPr marL="357188" lvl="1" fontAlgn="base">
              <a:spcAft>
                <a:spcPts val="300"/>
              </a:spcAft>
              <a:defRPr/>
            </a:pPr>
            <a:endParaRPr lang="en-US" sz="1500" dirty="0"/>
          </a:p>
          <a:p>
            <a:pPr marL="630238" lvl="1" indent="-273050" fontAlgn="base">
              <a:spcAft>
                <a:spcPts val="300"/>
              </a:spcAft>
              <a:buFont typeface="Wingdings" panose="05000000000000000000" pitchFamily="2" charset="2"/>
              <a:buChar char="ü"/>
              <a:defRPr/>
            </a:pPr>
            <a:endParaRPr kumimoji="0" lang="en-US" sz="500" b="0" i="0" u="none" strike="noStrike" kern="0" cap="none" spc="0" normalizeH="0" baseline="0" noProof="0" dirty="0">
              <a:ln>
                <a:noFill/>
              </a:ln>
              <a:effectLst/>
              <a:uLnTx/>
              <a:uFillTx/>
              <a:latin typeface="Arial" panose="020B0604020202020204"/>
              <a:cs typeface="Arial"/>
              <a:sym typeface="Arial"/>
            </a:endParaRPr>
          </a:p>
          <a:p>
            <a:pPr marL="630238" lvl="1" indent="-273050" fontAlgn="base">
              <a:spcAft>
                <a:spcPts val="300"/>
              </a:spcAft>
              <a:buFont typeface="Wingdings" panose="05000000000000000000" pitchFamily="2" charset="2"/>
              <a:buChar char="ü"/>
              <a:defRPr/>
            </a:pPr>
            <a:endParaRPr kumimoji="0" lang="en-US" sz="500" b="0" i="0" u="none" strike="noStrike" kern="0" cap="none" spc="0" normalizeH="0" baseline="0" noProof="0" dirty="0">
              <a:ln>
                <a:noFill/>
              </a:ln>
              <a:effectLst/>
              <a:uLnTx/>
              <a:uFillTx/>
              <a:latin typeface="Arial" panose="020B0604020202020204"/>
              <a:cs typeface="Arial"/>
              <a:sym typeface="Arial"/>
            </a:endParaRPr>
          </a:p>
          <a:p>
            <a:pPr marL="285750" marR="0" lvl="0" indent="-285750" algn="l" defTabSz="914400" rtl="0" eaLnBrk="1" fontAlgn="base" latinLnBrk="0" hangingPunct="1">
              <a:lnSpc>
                <a:spcPct val="100000"/>
              </a:lnSpc>
              <a:spcBef>
                <a:spcPts val="0"/>
              </a:spcBef>
              <a:spcAft>
                <a:spcPts val="300"/>
              </a:spcAft>
              <a:buClr>
                <a:srgbClr val="000000"/>
              </a:buClr>
              <a:buSzTx/>
              <a:buFont typeface="Arial" panose="020B0604020202020204" pitchFamily="34" charset="0"/>
              <a:buChar char="•"/>
              <a:tabLst/>
              <a:defRPr/>
            </a:pPr>
            <a:r>
              <a:rPr kumimoji="0" lang="en-US" sz="1700" b="0" i="0" u="none" strike="noStrike" kern="0" cap="none" spc="0" normalizeH="0" baseline="0" noProof="0" dirty="0">
                <a:ln>
                  <a:noFill/>
                </a:ln>
                <a:effectLst/>
                <a:uLnTx/>
                <a:uFillTx/>
                <a:latin typeface="Arial" panose="020B0604020202020204"/>
                <a:cs typeface="Arial"/>
                <a:sym typeface="Arial"/>
              </a:rPr>
              <a:t>But any direct investment could impact the market and bring some unfair competition on </a:t>
            </a:r>
            <a:r>
              <a:rPr lang="en-CH" sz="1700" dirty="0"/>
              <a:t>an</a:t>
            </a:r>
            <a:r>
              <a:rPr kumimoji="0" lang="en-US" sz="1700" b="0" i="0" u="none" strike="noStrike" kern="0" cap="none" spc="0" normalizeH="0" baseline="0" noProof="0" dirty="0">
                <a:ln>
                  <a:noFill/>
                </a:ln>
                <a:effectLst/>
                <a:uLnTx/>
                <a:uFillTx/>
                <a:latin typeface="Arial" panose="020B0604020202020204"/>
                <a:cs typeface="Arial"/>
                <a:sym typeface="Arial"/>
              </a:rPr>
              <a:t>established market, first on Fosfomycin, but potential on other products.</a:t>
            </a:r>
          </a:p>
          <a:p>
            <a:pPr marL="630238" lvl="1" indent="-273050" fontAlgn="base">
              <a:spcAft>
                <a:spcPts val="300"/>
              </a:spcAft>
              <a:buFont typeface="Wingdings" panose="05000000000000000000" pitchFamily="2" charset="2"/>
              <a:buChar char="ü"/>
              <a:defRPr/>
            </a:pPr>
            <a:r>
              <a:rPr kumimoji="0" lang="en-US" sz="1500" b="0" i="0" u="none" strike="noStrike" kern="0" cap="none" spc="0" normalizeH="0" baseline="0" noProof="0" dirty="0">
                <a:ln>
                  <a:noFill/>
                </a:ln>
                <a:effectLst/>
                <a:uLnTx/>
                <a:uFillTx/>
                <a:latin typeface="Arial" panose="020B0604020202020204"/>
                <a:cs typeface="Arial"/>
                <a:sym typeface="Arial"/>
              </a:rPr>
              <a:t>If we financially support Cipla, Cipla will become (a priori) the only quality assured supplier of IV Fosfomycin with a </a:t>
            </a:r>
            <a:r>
              <a:rPr kumimoji="0" lang="en-US" sz="1500" b="0" i="0" u="none" strike="noStrike" kern="0" cap="none" spc="0" normalizeH="0" baseline="0" noProof="0" dirty="0" err="1">
                <a:ln>
                  <a:noFill/>
                </a:ln>
                <a:effectLst/>
                <a:uLnTx/>
                <a:uFillTx/>
                <a:latin typeface="Arial" panose="020B0604020202020204"/>
                <a:cs typeface="Arial"/>
                <a:sym typeface="Arial"/>
              </a:rPr>
              <a:t>CoGs</a:t>
            </a:r>
            <a:r>
              <a:rPr kumimoji="0" lang="en-US" sz="1500" b="0" i="0" u="none" strike="noStrike" kern="0" cap="none" spc="0" normalizeH="0" baseline="0" noProof="0" dirty="0">
                <a:ln>
                  <a:noFill/>
                </a:ln>
                <a:effectLst/>
                <a:uLnTx/>
                <a:uFillTx/>
                <a:latin typeface="Arial" panose="020B0604020202020204"/>
                <a:cs typeface="Arial"/>
                <a:sym typeface="Arial"/>
              </a:rPr>
              <a:t> aligned with the LMICs market.  </a:t>
            </a:r>
            <a:r>
              <a:rPr lang="en-US" sz="1500" dirty="0"/>
              <a:t>While this is in line with our mission, Cipla may be able to compete with other players in a</a:t>
            </a:r>
            <a:r>
              <a:rPr lang="en-CH" sz="1500" dirty="0"/>
              <a:t>n </a:t>
            </a:r>
            <a:r>
              <a:rPr lang="en-US" sz="1500" dirty="0"/>
              <a:t>established market and potentially begin to compete with </a:t>
            </a:r>
            <a:r>
              <a:rPr lang="en-US" sz="1500" dirty="0" err="1"/>
              <a:t>Infectopharm</a:t>
            </a:r>
            <a:r>
              <a:rPr lang="en-US" sz="1500" dirty="0"/>
              <a:t> in the EU market.</a:t>
            </a:r>
            <a:r>
              <a:rPr lang="en-CH" sz="1500" dirty="0"/>
              <a:t> Depending on the size of the market this may be a pro or a con. </a:t>
            </a:r>
            <a:endParaRPr lang="en-US" sz="1500" dirty="0"/>
          </a:p>
          <a:p>
            <a:pPr marL="630238" lvl="1" indent="-273050" fontAlgn="base">
              <a:spcAft>
                <a:spcPts val="300"/>
              </a:spcAft>
              <a:buFont typeface="Wingdings" panose="05000000000000000000" pitchFamily="2" charset="2"/>
              <a:buChar char="ü"/>
              <a:defRPr/>
            </a:pPr>
            <a:r>
              <a:rPr lang="en-US" sz="1500" dirty="0"/>
              <a:t>GARDP has an obligation to ensure that financial support from various governments does not become a source of price competitiveness that drives other players (or even medicines) out of the market</a:t>
            </a:r>
          </a:p>
          <a:p>
            <a:pPr marR="0" lvl="0" algn="l" defTabSz="914400" rtl="0" eaLnBrk="1" fontAlgn="base" latinLnBrk="0" hangingPunct="1">
              <a:lnSpc>
                <a:spcPct val="100000"/>
              </a:lnSpc>
              <a:spcBef>
                <a:spcPts val="0"/>
              </a:spcBef>
              <a:spcAft>
                <a:spcPts val="300"/>
              </a:spcAft>
              <a:buClr>
                <a:srgbClr val="000000"/>
              </a:buClr>
              <a:buSzTx/>
              <a:tabLst/>
              <a:defRPr/>
            </a:pPr>
            <a:endParaRPr kumimoji="0" lang="en-US" sz="1500" b="0" i="0" u="none" strike="noStrike" kern="0" cap="none" spc="0" normalizeH="0" baseline="0" noProof="0" dirty="0">
              <a:ln>
                <a:noFill/>
              </a:ln>
              <a:effectLst/>
              <a:uLnTx/>
              <a:uFillTx/>
              <a:latin typeface="Arial" panose="020B0604020202020204"/>
              <a:cs typeface="Arial"/>
              <a:sym typeface="Arial"/>
            </a:endParaRPr>
          </a:p>
        </p:txBody>
      </p:sp>
      <p:sp>
        <p:nvSpPr>
          <p:cNvPr id="4" name="TextBox 3">
            <a:extLst>
              <a:ext uri="{FF2B5EF4-FFF2-40B4-BE49-F238E27FC236}">
                <a16:creationId xmlns:a16="http://schemas.microsoft.com/office/drawing/2014/main" id="{B9F957A2-8DBA-3C41-3140-1610691991A5}"/>
              </a:ext>
            </a:extLst>
          </p:cNvPr>
          <p:cNvSpPr txBox="1"/>
          <p:nvPr/>
        </p:nvSpPr>
        <p:spPr>
          <a:xfrm>
            <a:off x="1149655" y="3004235"/>
            <a:ext cx="5354015" cy="1785104"/>
          </a:xfrm>
          <a:prstGeom prst="rect">
            <a:avLst/>
          </a:prstGeom>
          <a:noFill/>
        </p:spPr>
        <p:txBody>
          <a:bodyPr wrap="square">
            <a:spAutoFit/>
          </a:bodyPr>
          <a:lstStyle/>
          <a:p>
            <a:pPr marL="357188" lvl="1" fontAlgn="base">
              <a:spcAft>
                <a:spcPts val="300"/>
              </a:spcAft>
              <a:defRPr/>
            </a:pPr>
            <a:r>
              <a:rPr kumimoji="0" lang="en-US" sz="1500" b="0" i="0" u="sng" strike="noStrike" kern="0" cap="none" spc="0" normalizeH="0" baseline="0" noProof="0" dirty="0">
                <a:ln>
                  <a:noFill/>
                </a:ln>
                <a:effectLst/>
                <a:uLnTx/>
                <a:uFillTx/>
                <a:latin typeface="Arial" panose="020B0604020202020204"/>
                <a:cs typeface="Arial"/>
                <a:sym typeface="Arial"/>
              </a:rPr>
              <a:t>Fosfomycin</a:t>
            </a:r>
          </a:p>
          <a:p>
            <a:pPr marL="536575" lvl="1" indent="-179388" fontAlgn="base">
              <a:spcAft>
                <a:spcPts val="300"/>
              </a:spcAft>
              <a:defRPr/>
            </a:pPr>
            <a:r>
              <a:rPr kumimoji="0" lang="en-US" sz="1500" b="0" i="0" u="none" strike="noStrike" kern="0" cap="none" spc="0" normalizeH="0" baseline="0" noProof="0" dirty="0">
                <a:ln>
                  <a:noFill/>
                </a:ln>
                <a:effectLst/>
                <a:uLnTx/>
                <a:uFillTx/>
                <a:latin typeface="Arial" panose="020B0604020202020204"/>
                <a:cs typeface="Arial"/>
                <a:sym typeface="Arial"/>
              </a:rPr>
              <a:t>.	</a:t>
            </a:r>
            <a:r>
              <a:rPr kumimoji="0" lang="en-US" sz="1500" b="0" i="0" u="none" strike="noStrike" kern="0" cap="none" spc="0" normalizeH="0" baseline="0" noProof="0" dirty="0" err="1">
                <a:ln>
                  <a:noFill/>
                </a:ln>
                <a:effectLst/>
                <a:uLnTx/>
                <a:uFillTx/>
                <a:latin typeface="Arial" panose="020B0604020202020204"/>
                <a:cs typeface="Arial"/>
                <a:sym typeface="Arial"/>
              </a:rPr>
              <a:t>Infectopharm</a:t>
            </a:r>
            <a:r>
              <a:rPr kumimoji="0" lang="en-US" sz="1500" b="0" i="0" u="none" strike="noStrike" kern="0" cap="none" spc="0" normalizeH="0" baseline="0" noProof="0" dirty="0">
                <a:ln>
                  <a:noFill/>
                </a:ln>
                <a:effectLst/>
                <a:uLnTx/>
                <a:uFillTx/>
                <a:latin typeface="Arial" panose="020B0604020202020204"/>
                <a:cs typeface="Arial"/>
                <a:sym typeface="Arial"/>
              </a:rPr>
              <a:t> / </a:t>
            </a:r>
            <a:r>
              <a:rPr kumimoji="0" lang="en-US" sz="1500" b="0" i="0" u="none" strike="noStrike" kern="0" cap="none" spc="0" normalizeH="0" baseline="0" noProof="0" dirty="0" err="1">
                <a:ln>
                  <a:noFill/>
                </a:ln>
                <a:effectLst/>
                <a:uLnTx/>
                <a:uFillTx/>
                <a:latin typeface="Arial" panose="020B0604020202020204"/>
                <a:cs typeface="Arial"/>
                <a:sym typeface="Arial"/>
              </a:rPr>
              <a:t>Ercros</a:t>
            </a:r>
            <a:r>
              <a:rPr kumimoji="0" lang="en-US" sz="1500" b="0" i="0" u="none" strike="noStrike" kern="0" cap="none" spc="0" normalizeH="0" baseline="0" noProof="0" dirty="0">
                <a:ln>
                  <a:noFill/>
                </a:ln>
                <a:effectLst/>
                <a:uLnTx/>
                <a:uFillTx/>
                <a:latin typeface="Arial" panose="020B0604020202020204"/>
                <a:cs typeface="Arial"/>
                <a:sym typeface="Arial"/>
              </a:rPr>
              <a:t> (Spain) – expensive </a:t>
            </a:r>
            <a:r>
              <a:rPr kumimoji="0" lang="en-US" sz="1500" b="0" i="0" u="none" strike="noStrike" kern="0" cap="none" spc="0" normalizeH="0" baseline="0" noProof="0" dirty="0" err="1">
                <a:ln>
                  <a:noFill/>
                </a:ln>
                <a:effectLst/>
                <a:uLnTx/>
                <a:uFillTx/>
                <a:latin typeface="Arial" panose="020B0604020202020204"/>
                <a:cs typeface="Arial"/>
                <a:sym typeface="Arial"/>
              </a:rPr>
              <a:t>CoGs</a:t>
            </a:r>
            <a:r>
              <a:rPr kumimoji="0" lang="en-US" sz="1500" b="0" i="0" u="none" strike="noStrike" kern="0" cap="none" spc="0" normalizeH="0" baseline="0" noProof="0" dirty="0">
                <a:ln>
                  <a:noFill/>
                </a:ln>
                <a:effectLst/>
                <a:uLnTx/>
                <a:uFillTx/>
                <a:latin typeface="Arial" panose="020B0604020202020204"/>
                <a:cs typeface="Arial"/>
                <a:sym typeface="Arial"/>
              </a:rPr>
              <a:t> which does not meet LMICs expectations </a:t>
            </a:r>
            <a:r>
              <a:rPr kumimoji="0" lang="en-US" sz="1500" b="0" i="1" u="none" strike="noStrike" kern="0" cap="none" spc="0" normalizeH="0" baseline="0" noProof="0" dirty="0">
                <a:ln>
                  <a:noFill/>
                </a:ln>
                <a:effectLst/>
                <a:uLnTx/>
                <a:uFillTx/>
                <a:latin typeface="Arial" panose="020B0604020202020204"/>
                <a:cs typeface="Arial"/>
                <a:sym typeface="Arial"/>
              </a:rPr>
              <a:t>“How can you help us to manage pricing issue?”</a:t>
            </a:r>
          </a:p>
          <a:p>
            <a:pPr marL="536575" lvl="1" indent="-179388" fontAlgn="base">
              <a:spcAft>
                <a:spcPts val="300"/>
              </a:spcAft>
              <a:defRPr/>
            </a:pPr>
            <a:r>
              <a:rPr lang="en-US" sz="1500" dirty="0"/>
              <a:t>.	Cipla - non-quality API - improving their process will cost +$2.5m ... which Cipla alone cannot support on a product that generates $1.3M / y</a:t>
            </a:r>
          </a:p>
        </p:txBody>
      </p:sp>
      <p:sp>
        <p:nvSpPr>
          <p:cNvPr id="6" name="TextBox 5">
            <a:extLst>
              <a:ext uri="{FF2B5EF4-FFF2-40B4-BE49-F238E27FC236}">
                <a16:creationId xmlns:a16="http://schemas.microsoft.com/office/drawing/2014/main" id="{736C98B0-8013-6D91-82F8-1101BE7DD529}"/>
              </a:ext>
            </a:extLst>
          </p:cNvPr>
          <p:cNvSpPr txBox="1"/>
          <p:nvPr/>
        </p:nvSpPr>
        <p:spPr>
          <a:xfrm>
            <a:off x="6161251" y="3004235"/>
            <a:ext cx="5354015" cy="1515800"/>
          </a:xfrm>
          <a:prstGeom prst="rect">
            <a:avLst/>
          </a:prstGeom>
          <a:noFill/>
        </p:spPr>
        <p:txBody>
          <a:bodyPr wrap="square">
            <a:spAutoFit/>
          </a:bodyPr>
          <a:lstStyle/>
          <a:p>
            <a:pPr marL="357188" lvl="1" fontAlgn="base">
              <a:spcAft>
                <a:spcPts val="300"/>
              </a:spcAft>
              <a:defRPr/>
            </a:pPr>
            <a:r>
              <a:rPr kumimoji="0" lang="en-US" sz="1500" b="0" i="0" u="sng" strike="noStrike" kern="0" cap="none" spc="0" normalizeH="0" baseline="0" noProof="0" dirty="0">
                <a:ln>
                  <a:noFill/>
                </a:ln>
                <a:effectLst/>
                <a:uLnTx/>
                <a:uFillTx/>
                <a:latin typeface="Arial" panose="020B0604020202020204"/>
                <a:cs typeface="Arial"/>
                <a:sym typeface="Arial"/>
              </a:rPr>
              <a:t>Flomoxef</a:t>
            </a:r>
          </a:p>
          <a:p>
            <a:pPr marL="536575" lvl="1" indent="-179388" fontAlgn="base">
              <a:spcAft>
                <a:spcPts val="300"/>
              </a:spcAft>
              <a:defRPr/>
            </a:pPr>
            <a:r>
              <a:rPr kumimoji="0" lang="en-US" sz="1500" b="0" i="0" u="none" strike="noStrike" kern="0" cap="none" spc="0" normalizeH="0" baseline="0" noProof="0" dirty="0">
                <a:ln>
                  <a:noFill/>
                </a:ln>
                <a:effectLst/>
                <a:uLnTx/>
                <a:uFillTx/>
                <a:latin typeface="Arial" panose="020B0604020202020204"/>
                <a:cs typeface="Arial"/>
                <a:sym typeface="Arial"/>
              </a:rPr>
              <a:t>.	JEIL - If manufacturing efficiency options are identified to reduce </a:t>
            </a:r>
            <a:r>
              <a:rPr kumimoji="0" lang="en-US" sz="1500" b="0" i="0" u="none" strike="noStrike" kern="0" cap="none" spc="0" normalizeH="0" baseline="0" noProof="0" dirty="0" err="1">
                <a:ln>
                  <a:noFill/>
                </a:ln>
                <a:effectLst/>
                <a:uLnTx/>
                <a:uFillTx/>
                <a:latin typeface="Arial" panose="020B0604020202020204"/>
                <a:cs typeface="Arial"/>
                <a:sym typeface="Arial"/>
              </a:rPr>
              <a:t>CoGs</a:t>
            </a:r>
            <a:r>
              <a:rPr kumimoji="0" lang="en-US" sz="1500" b="0" i="0" u="none" strike="noStrike" kern="0" cap="none" spc="0" normalizeH="0" baseline="0" noProof="0" dirty="0">
                <a:ln>
                  <a:noFill/>
                </a:ln>
                <a:effectLst/>
                <a:uLnTx/>
                <a:uFillTx/>
                <a:latin typeface="Arial" panose="020B0604020202020204"/>
                <a:cs typeface="Arial"/>
                <a:sym typeface="Arial"/>
              </a:rPr>
              <a:t>, who will fund the development of a new manufacturing line and who will bear the cost of all the tests to be carried out to ensure that existing regulatory dossiers are updated? </a:t>
            </a:r>
            <a:endParaRPr lang="en-US" sz="1500" i="1" dirty="0"/>
          </a:p>
        </p:txBody>
      </p:sp>
    </p:spTree>
    <p:extLst>
      <p:ext uri="{BB962C8B-B14F-4D97-AF65-F5344CB8AC3E}">
        <p14:creationId xmlns:p14="http://schemas.microsoft.com/office/powerpoint/2010/main" val="3024339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9">
            <a:extLst>
              <a:ext uri="{FF2B5EF4-FFF2-40B4-BE49-F238E27FC236}">
                <a16:creationId xmlns:a16="http://schemas.microsoft.com/office/drawing/2014/main" id="{6D693A2F-197A-4944-8164-56AA507DCACA}"/>
              </a:ext>
            </a:extLst>
          </p:cNvPr>
          <p:cNvSpPr txBox="1">
            <a:spLocks/>
          </p:cNvSpPr>
          <p:nvPr/>
        </p:nvSpPr>
        <p:spPr>
          <a:xfrm>
            <a:off x="11591474" y="6528004"/>
            <a:ext cx="562915" cy="303274"/>
          </a:xfrm>
          <a:prstGeom prst="rect">
            <a:avLst/>
          </a:prstGeom>
          <a:noFill/>
          <a:ln>
            <a:no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spcFirstLastPara="1" wrap="square" lIns="45719" tIns="45719" rIns="45719" bIns="45719" anchor="t" anchorCtr="0">
            <a:noAutofit/>
          </a:bodyPr>
          <a:lstStyle>
            <a:defPPr marR="0" lvl="0" algn="l" rtl="0">
              <a:lnSpc>
                <a:spcPct val="100000"/>
              </a:lnSpc>
              <a:spcBef>
                <a:spcPts val="0"/>
              </a:spcBef>
              <a:spcAft>
                <a:spcPts val="0"/>
              </a:spcAft>
            </a:defPPr>
            <a:lvl1pPr marL="457200" marR="0" lvl="0" indent="-228600" algn="l" rtl="0" eaLnBrk="1" hangingPunct="1">
              <a:lnSpc>
                <a:spcPct val="90000"/>
              </a:lnSpc>
              <a:spcBef>
                <a:spcPts val="1000"/>
              </a:spcBef>
              <a:spcAft>
                <a:spcPts val="0"/>
              </a:spcAft>
              <a:buClr>
                <a:srgbClr val="18A1AB"/>
              </a:buClr>
              <a:buSzPts val="2400"/>
              <a:buFont typeface="Arial"/>
              <a:buNone/>
              <a:defRPr sz="1000" b="0" i="0" u="none" strike="noStrike" cap="none">
                <a:solidFill>
                  <a:srgbClr val="000000"/>
                </a:solidFill>
                <a:latin typeface="Arial"/>
                <a:ea typeface="Arial"/>
                <a:cs typeface="Arial"/>
                <a:sym typeface="Arial"/>
              </a:defRPr>
            </a:lvl1pPr>
            <a:lvl2pPr marL="914400" marR="0" lvl="1"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marL="457200" marR="0" lvl="0" indent="-228600" algn="ctr" defTabSz="914400" rtl="0" eaLnBrk="1" fontAlgn="auto" latinLnBrk="0" hangingPunct="1">
              <a:lnSpc>
                <a:spcPct val="90000"/>
              </a:lnSpc>
              <a:spcBef>
                <a:spcPts val="1000"/>
              </a:spcBef>
              <a:spcAft>
                <a:spcPts val="0"/>
              </a:spcAft>
              <a:buClr>
                <a:srgbClr val="18A1AB"/>
              </a:buClr>
              <a:buSzPts val="2400"/>
              <a:buFont typeface="Arial"/>
              <a:buNone/>
              <a:tabLst/>
              <a:defRPr/>
            </a:pPr>
            <a:fld id="{86CB4B4D-7CA3-9044-876B-883B54F8677D}" type="slidenum">
              <a:rPr kumimoji="0" lang="en-GB" sz="800" b="0" i="0" u="none" strike="noStrike" kern="0" cap="none" spc="0" normalizeH="0" baseline="0" noProof="0" smtClean="0">
                <a:ln>
                  <a:noFill/>
                </a:ln>
                <a:solidFill>
                  <a:srgbClr val="000000"/>
                </a:solidFill>
                <a:effectLst/>
                <a:uLnTx/>
                <a:uFillTx/>
                <a:latin typeface="Arial"/>
                <a:cs typeface="Arial"/>
                <a:sym typeface="Arial"/>
              </a:rPr>
              <a:pPr marL="457200" marR="0" lvl="0" indent="-228600" algn="ctr" defTabSz="914400" rtl="0" eaLnBrk="1" fontAlgn="auto" latinLnBrk="0" hangingPunct="1">
                <a:lnSpc>
                  <a:spcPct val="90000"/>
                </a:lnSpc>
                <a:spcBef>
                  <a:spcPts val="1000"/>
                </a:spcBef>
                <a:spcAft>
                  <a:spcPts val="0"/>
                </a:spcAft>
                <a:buClr>
                  <a:srgbClr val="18A1AB"/>
                </a:buClr>
                <a:buSzPts val="2400"/>
                <a:buFont typeface="Arial"/>
                <a:buNone/>
                <a:tabLst/>
                <a:defRPr/>
              </a:pPr>
              <a:t>9</a:t>
            </a:fld>
            <a:endParaRPr kumimoji="0" lang="en-GB" sz="8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 name="Straight Connector 1">
            <a:extLst>
              <a:ext uri="{FF2B5EF4-FFF2-40B4-BE49-F238E27FC236}">
                <a16:creationId xmlns:a16="http://schemas.microsoft.com/office/drawing/2014/main" id="{DA4F0FC3-A77B-B0FA-E587-9F88B0F50650}"/>
              </a:ext>
            </a:extLst>
          </p:cNvPr>
          <p:cNvCxnSpPr/>
          <p:nvPr/>
        </p:nvCxnSpPr>
        <p:spPr>
          <a:xfrm>
            <a:off x="607860" y="980168"/>
            <a:ext cx="3600000" cy="0"/>
          </a:xfrm>
          <a:prstGeom prst="line">
            <a:avLst/>
          </a:prstGeom>
          <a:ln w="19050">
            <a:solidFill>
              <a:srgbClr val="0B6377"/>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56C28AFF-9D81-D83C-E074-C66988973DCC}"/>
              </a:ext>
            </a:extLst>
          </p:cNvPr>
          <p:cNvSpPr txBox="1">
            <a:spLocks/>
          </p:cNvSpPr>
          <p:nvPr/>
        </p:nvSpPr>
        <p:spPr>
          <a:xfrm>
            <a:off x="495299" y="302897"/>
            <a:ext cx="11522530" cy="5170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eaLnBrk="1" hangingPunct="1">
              <a:lnSpc>
                <a:spcPct val="90000"/>
              </a:lnSpc>
              <a:spcBef>
                <a:spcPts val="0"/>
              </a:spcBef>
              <a:spcAft>
                <a:spcPts val="0"/>
              </a:spcAft>
              <a:buClr>
                <a:srgbClr val="0D202F"/>
              </a:buClr>
              <a:buSzPts val="3500"/>
              <a:buFont typeface="Arial"/>
              <a:buNone/>
              <a:defRPr sz="35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D202F"/>
              </a:buClr>
              <a:buSzPts val="3500"/>
              <a:buFont typeface="Arial"/>
              <a:buNone/>
              <a:tabLst/>
              <a:defRPr/>
            </a:pPr>
            <a:r>
              <a:rPr lang="en-CH" sz="3200" b="1" dirty="0">
                <a:solidFill>
                  <a:srgbClr val="0D202F"/>
                </a:solidFill>
              </a:rPr>
              <a:t>Financial </a:t>
            </a:r>
            <a:r>
              <a:rPr lang="en-CH" sz="3200" b="1" dirty="0" err="1">
                <a:solidFill>
                  <a:srgbClr val="0D202F"/>
                </a:solidFill>
              </a:rPr>
              <a:t>i</a:t>
            </a:r>
            <a:r>
              <a:rPr lang="en-GB" sz="3200" b="1" dirty="0" err="1">
                <a:solidFill>
                  <a:srgbClr val="0D202F"/>
                </a:solidFill>
              </a:rPr>
              <a:t>nvest</a:t>
            </a:r>
            <a:r>
              <a:rPr lang="en-CH" sz="3200" b="1" dirty="0" err="1">
                <a:solidFill>
                  <a:srgbClr val="0D202F"/>
                </a:solidFill>
              </a:rPr>
              <a:t>ment</a:t>
            </a:r>
            <a:r>
              <a:rPr lang="en-GB" sz="3200" b="1" dirty="0">
                <a:solidFill>
                  <a:srgbClr val="0D202F"/>
                </a:solidFill>
              </a:rPr>
              <a:t> in manufacturing of generic products</a:t>
            </a:r>
            <a:endParaRPr kumimoji="0" lang="en-GB" sz="3200" b="1" i="0" u="none" strike="noStrike" kern="0" cap="none" spc="0" normalizeH="0" baseline="0" noProof="0" dirty="0">
              <a:ln>
                <a:noFill/>
              </a:ln>
              <a:solidFill>
                <a:srgbClr val="000000"/>
              </a:solidFill>
              <a:effectLst/>
              <a:uLnTx/>
              <a:uFillTx/>
              <a:latin typeface="Arial"/>
              <a:cs typeface="Arial"/>
              <a:sym typeface="Arial"/>
            </a:endParaRPr>
          </a:p>
        </p:txBody>
      </p:sp>
      <p:sp>
        <p:nvSpPr>
          <p:cNvPr id="5" name="Text Placeholder 3">
            <a:extLst>
              <a:ext uri="{FF2B5EF4-FFF2-40B4-BE49-F238E27FC236}">
                <a16:creationId xmlns:a16="http://schemas.microsoft.com/office/drawing/2014/main" id="{9D0E1E26-3DC4-78AF-BA33-7698349891F3}"/>
              </a:ext>
            </a:extLst>
          </p:cNvPr>
          <p:cNvSpPr txBox="1">
            <a:spLocks/>
          </p:cNvSpPr>
          <p:nvPr/>
        </p:nvSpPr>
        <p:spPr>
          <a:xfrm>
            <a:off x="564717" y="1103658"/>
            <a:ext cx="10895888" cy="446889"/>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i="1" dirty="0">
                <a:solidFill>
                  <a:srgbClr val="0B1E2F"/>
                </a:solidFill>
              </a:rPr>
              <a:t>Products to be considered =&gt; only generic products on which we are conducting clinical activities and which are part of the GARDP portfolio (flomoxef, </a:t>
            </a:r>
            <a:r>
              <a:rPr lang="en-US" sz="2000" i="1" dirty="0" err="1">
                <a:solidFill>
                  <a:srgbClr val="0B1E2F"/>
                </a:solidFill>
              </a:rPr>
              <a:t>fosfomycin</a:t>
            </a:r>
            <a:r>
              <a:rPr lang="en-US" sz="2000" i="1" dirty="0">
                <a:solidFill>
                  <a:srgbClr val="0B1E2F"/>
                </a:solidFill>
              </a:rPr>
              <a:t>, … apramycin)</a:t>
            </a:r>
          </a:p>
        </p:txBody>
      </p:sp>
      <p:sp>
        <p:nvSpPr>
          <p:cNvPr id="4" name="Rectangle 3">
            <a:extLst>
              <a:ext uri="{FF2B5EF4-FFF2-40B4-BE49-F238E27FC236}">
                <a16:creationId xmlns:a16="http://schemas.microsoft.com/office/drawing/2014/main" id="{E3210C76-7995-C56E-CB9F-36C323E4819E}"/>
              </a:ext>
            </a:extLst>
          </p:cNvPr>
          <p:cNvSpPr/>
          <p:nvPr/>
        </p:nvSpPr>
        <p:spPr>
          <a:xfrm>
            <a:off x="849510" y="2011679"/>
            <a:ext cx="5257800" cy="4543423"/>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spcBef>
                <a:spcPts val="300"/>
              </a:spcBef>
            </a:pPr>
            <a:r>
              <a:rPr lang="en-US" sz="1600" b="1" u="sng" dirty="0">
                <a:solidFill>
                  <a:schemeClr val="tx1"/>
                </a:solidFill>
              </a:rPr>
              <a:t>PROS</a:t>
            </a:r>
          </a:p>
          <a:p>
            <a:pPr marL="446088" indent="-285750">
              <a:spcBef>
                <a:spcPts val="300"/>
              </a:spcBef>
              <a:buClr>
                <a:srgbClr val="19A1AC"/>
              </a:buClr>
              <a:buFont typeface="Arial" panose="020B0604020202020204" pitchFamily="34" charset="0"/>
              <a:buChar char="•"/>
            </a:pPr>
            <a:r>
              <a:rPr lang="en-US" sz="1600" dirty="0">
                <a:solidFill>
                  <a:schemeClr val="tx1"/>
                </a:solidFill>
              </a:rPr>
              <a:t>Secure the supply chain</a:t>
            </a:r>
          </a:p>
          <a:p>
            <a:pPr marL="446088" indent="-285750">
              <a:spcBef>
                <a:spcPts val="300"/>
              </a:spcBef>
              <a:buClr>
                <a:srgbClr val="19A1AC"/>
              </a:buClr>
              <a:buFont typeface="Arial" panose="020B0604020202020204" pitchFamily="34" charset="0"/>
              <a:buChar char="•"/>
            </a:pPr>
            <a:r>
              <a:rPr lang="en-US" sz="1600" dirty="0">
                <a:solidFill>
                  <a:schemeClr val="tx1"/>
                </a:solidFill>
              </a:rPr>
              <a:t>Get “commitment” from the manufacturers and  avoid shortages</a:t>
            </a:r>
            <a:r>
              <a:rPr lang="en-CH" sz="1600" dirty="0">
                <a:solidFill>
                  <a:schemeClr val="tx1"/>
                </a:solidFill>
              </a:rPr>
              <a:t> </a:t>
            </a:r>
            <a:endParaRPr lang="en-US" sz="1600" dirty="0">
              <a:solidFill>
                <a:schemeClr val="tx1"/>
              </a:solidFill>
            </a:endParaRPr>
          </a:p>
          <a:p>
            <a:pPr marL="446088" indent="-285750">
              <a:spcBef>
                <a:spcPts val="300"/>
              </a:spcBef>
              <a:buClr>
                <a:srgbClr val="19A1AC"/>
              </a:buClr>
              <a:buFont typeface="Arial" panose="020B0604020202020204" pitchFamily="34" charset="0"/>
              <a:buChar char="•"/>
            </a:pPr>
            <a:r>
              <a:rPr lang="en-US" sz="1600" dirty="0">
                <a:solidFill>
                  <a:schemeClr val="tx1"/>
                </a:solidFill>
              </a:rPr>
              <a:t>Impact on </a:t>
            </a:r>
            <a:r>
              <a:rPr lang="en-US" sz="1600" dirty="0" err="1">
                <a:solidFill>
                  <a:schemeClr val="tx1"/>
                </a:solidFill>
              </a:rPr>
              <a:t>CoGs</a:t>
            </a:r>
            <a:r>
              <a:rPr lang="en-US" sz="1600" dirty="0">
                <a:solidFill>
                  <a:schemeClr val="tx1"/>
                </a:solidFill>
              </a:rPr>
              <a:t> and  on the quality of antibiotics – which fits with GARDP mission</a:t>
            </a:r>
          </a:p>
          <a:p>
            <a:pPr marL="446088" indent="-285750">
              <a:spcBef>
                <a:spcPts val="300"/>
              </a:spcBef>
              <a:buClr>
                <a:srgbClr val="19A1AC"/>
              </a:buClr>
              <a:buFont typeface="Arial" panose="020B0604020202020204" pitchFamily="34" charset="0"/>
              <a:buChar char="•"/>
            </a:pPr>
            <a:r>
              <a:rPr lang="en-US" sz="1600" dirty="0">
                <a:solidFill>
                  <a:schemeClr val="tx1"/>
                </a:solidFill>
              </a:rPr>
              <a:t>Could g</a:t>
            </a:r>
            <a:r>
              <a:rPr lang="en-CH" sz="1600" dirty="0">
                <a:solidFill>
                  <a:schemeClr val="tx1"/>
                </a:solidFill>
              </a:rPr>
              <a:t>et commitment from manufacturers to register in key countries</a:t>
            </a:r>
          </a:p>
          <a:p>
            <a:pPr marL="446088" indent="-285750">
              <a:spcBef>
                <a:spcPts val="300"/>
              </a:spcBef>
              <a:buClr>
                <a:srgbClr val="19A1AC"/>
              </a:buClr>
              <a:buFont typeface="Arial" panose="020B0604020202020204" pitchFamily="34" charset="0"/>
              <a:buChar char="•"/>
            </a:pPr>
            <a:r>
              <a:rPr lang="en-CH" sz="1600" dirty="0">
                <a:solidFill>
                  <a:schemeClr val="tx1"/>
                </a:solidFill>
              </a:rPr>
              <a:t>Could introduce healthy competition</a:t>
            </a:r>
            <a:r>
              <a:rPr lang="en-US" sz="1600" dirty="0">
                <a:solidFill>
                  <a:schemeClr val="tx1"/>
                </a:solidFill>
              </a:rPr>
              <a:t>,</a:t>
            </a:r>
            <a:r>
              <a:rPr lang="en-CH" sz="1600" dirty="0">
                <a:solidFill>
                  <a:schemeClr val="tx1"/>
                </a:solidFill>
              </a:rPr>
              <a:t> shou</a:t>
            </a:r>
            <a:r>
              <a:rPr lang="en-US" sz="1600" dirty="0" err="1">
                <a:solidFill>
                  <a:schemeClr val="tx1"/>
                </a:solidFill>
              </a:rPr>
              <a:t>ld</a:t>
            </a:r>
            <a:r>
              <a:rPr lang="en-CH" sz="1600" dirty="0">
                <a:solidFill>
                  <a:schemeClr val="tx1"/>
                </a:solidFill>
              </a:rPr>
              <a:t> the market be of a sufficient size</a:t>
            </a:r>
            <a:endParaRPr lang="en-US" sz="1600" dirty="0">
              <a:solidFill>
                <a:schemeClr val="tx1"/>
              </a:solidFill>
            </a:endParaRPr>
          </a:p>
          <a:p>
            <a:pPr marL="446088" indent="-285750">
              <a:spcBef>
                <a:spcPts val="300"/>
              </a:spcBef>
              <a:buClr>
                <a:srgbClr val="19A1AC"/>
              </a:buClr>
              <a:buFont typeface="Arial" panose="020B0604020202020204" pitchFamily="34" charset="0"/>
              <a:buChar char="•"/>
            </a:pPr>
            <a:endParaRPr lang="en-US" sz="1600" dirty="0">
              <a:solidFill>
                <a:schemeClr val="tx1"/>
              </a:solidFill>
            </a:endParaRPr>
          </a:p>
          <a:p>
            <a:pPr>
              <a:spcBef>
                <a:spcPts val="300"/>
              </a:spcBef>
            </a:pPr>
            <a:endParaRPr lang="en-US" sz="1600" dirty="0">
              <a:solidFill>
                <a:schemeClr val="tx1"/>
              </a:solidFill>
            </a:endParaRPr>
          </a:p>
        </p:txBody>
      </p:sp>
      <p:sp>
        <p:nvSpPr>
          <p:cNvPr id="11" name="Rectangle 10">
            <a:extLst>
              <a:ext uri="{FF2B5EF4-FFF2-40B4-BE49-F238E27FC236}">
                <a16:creationId xmlns:a16="http://schemas.microsoft.com/office/drawing/2014/main" id="{0B29E015-BB6A-1B8C-3DC0-F76BDC77D6BC}"/>
              </a:ext>
            </a:extLst>
          </p:cNvPr>
          <p:cNvSpPr/>
          <p:nvPr/>
        </p:nvSpPr>
        <p:spPr>
          <a:xfrm>
            <a:off x="6107310" y="2011679"/>
            <a:ext cx="5484164" cy="4543423"/>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spcBef>
                <a:spcPts val="300"/>
              </a:spcBef>
            </a:pPr>
            <a:r>
              <a:rPr lang="en-US" sz="1600" b="1" u="sng" dirty="0">
                <a:solidFill>
                  <a:srgbClr val="000000"/>
                </a:solidFill>
              </a:rPr>
              <a:t>CONS / Challenges</a:t>
            </a:r>
          </a:p>
          <a:p>
            <a:pPr marL="446088" indent="-285750">
              <a:spcBef>
                <a:spcPts val="300"/>
              </a:spcBef>
              <a:buClr>
                <a:srgbClr val="19A1AC"/>
              </a:buClr>
              <a:buFont typeface="Arial" panose="020B0604020202020204" pitchFamily="34" charset="0"/>
              <a:buChar char="•"/>
            </a:pPr>
            <a:r>
              <a:rPr lang="en-US" sz="1600" dirty="0">
                <a:solidFill>
                  <a:srgbClr val="000000"/>
                </a:solidFill>
              </a:rPr>
              <a:t>Lack of control of the manufacturer strategy: difficult to guarantee that this funding will reinforce the supply chain / </a:t>
            </a:r>
            <a:r>
              <a:rPr kumimoji="0" lang="en-US" sz="1600" b="0" i="0" u="none" strike="noStrike" kern="0" cap="none" spc="0" normalizeH="0" baseline="0" noProof="0" dirty="0">
                <a:ln>
                  <a:noFill/>
                </a:ln>
                <a:solidFill>
                  <a:srgbClr val="000000"/>
                </a:solidFill>
                <a:effectLst/>
                <a:uLnTx/>
                <a:uFillTx/>
                <a:latin typeface="Arial" panose="020B0604020202020204"/>
                <a:cs typeface="Arial"/>
                <a:sym typeface="Arial"/>
              </a:rPr>
              <a:t>COGS improvements might not be passed on fully to the sale price (i.e. companies make some profit margin improvement) / hard to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a:sym typeface="Arial"/>
              </a:rPr>
              <a:t>en</a:t>
            </a:r>
            <a:r>
              <a:rPr lang="en-US" sz="1600" dirty="0">
                <a:solidFill>
                  <a:srgbClr val="000000"/>
                </a:solidFill>
              </a:rPr>
              <a:t>sure preference of supply to LMICs </a:t>
            </a:r>
            <a:endParaRPr kumimoji="0" lang="en-US" sz="1600" b="0" i="0" u="none" strike="noStrike" kern="0" cap="none" spc="0" normalizeH="0" baseline="0" noProof="0" dirty="0">
              <a:ln>
                <a:noFill/>
              </a:ln>
              <a:solidFill>
                <a:srgbClr val="000000"/>
              </a:solidFill>
              <a:effectLst/>
              <a:uLnTx/>
              <a:uFillTx/>
              <a:latin typeface="Arial" panose="020B0604020202020204"/>
              <a:cs typeface="Arial"/>
              <a:sym typeface="Arial"/>
            </a:endParaRPr>
          </a:p>
          <a:p>
            <a:pPr marL="446088" indent="-285750">
              <a:spcBef>
                <a:spcPts val="300"/>
              </a:spcBef>
              <a:buClr>
                <a:srgbClr val="19A1AC"/>
              </a:buClr>
              <a:buFont typeface="Arial" panose="020B0604020202020204" pitchFamily="34" charset="0"/>
              <a:buChar char="•"/>
            </a:pPr>
            <a:r>
              <a:rPr kumimoji="0" lang="en-US" sz="1600" b="0" i="0" u="none" strike="noStrike" kern="0" cap="none" spc="0" normalizeH="0" baseline="0" noProof="0" dirty="0">
                <a:ln>
                  <a:noFill/>
                </a:ln>
                <a:solidFill>
                  <a:srgbClr val="000000"/>
                </a:solidFill>
                <a:effectLst/>
                <a:uLnTx/>
                <a:uFillTx/>
                <a:latin typeface="Arial" panose="020B0604020202020204"/>
                <a:cs typeface="Arial"/>
                <a:sym typeface="Arial"/>
              </a:rPr>
              <a:t>Bring some unfair competition and potentially destabilize the market (which is already fragile);</a:t>
            </a:r>
          </a:p>
          <a:p>
            <a:pPr marL="446088" indent="-285750">
              <a:spcBef>
                <a:spcPts val="300"/>
              </a:spcBef>
              <a:buClr>
                <a:srgbClr val="19A1AC"/>
              </a:buClr>
              <a:buFont typeface="Arial" panose="020B0604020202020204" pitchFamily="34" charset="0"/>
              <a:buChar char="•"/>
            </a:pPr>
            <a:r>
              <a:rPr lang="en-US" sz="1600" dirty="0">
                <a:solidFill>
                  <a:srgbClr val="000000"/>
                </a:solidFill>
                <a:cs typeface="Arial"/>
              </a:rPr>
              <a:t>Doing a RFP to identify potential manufacturers that we will financially support to improve the quality of their products may exclude our current partners (</a:t>
            </a:r>
            <a:r>
              <a:rPr lang="en-US" sz="1600" dirty="0" err="1">
                <a:solidFill>
                  <a:srgbClr val="000000"/>
                </a:solidFill>
                <a:cs typeface="Arial"/>
              </a:rPr>
              <a:t>Infectopharm</a:t>
            </a:r>
            <a:r>
              <a:rPr lang="en-US" sz="1600" dirty="0">
                <a:solidFill>
                  <a:srgbClr val="000000"/>
                </a:solidFill>
                <a:cs typeface="Arial"/>
              </a:rPr>
              <a:t>, Shionogi)</a:t>
            </a:r>
          </a:p>
          <a:p>
            <a:pPr marL="446088" indent="-285750">
              <a:spcBef>
                <a:spcPts val="300"/>
              </a:spcBef>
              <a:buClr>
                <a:srgbClr val="19A1AC"/>
              </a:buClr>
              <a:buFont typeface="Arial" panose="020B0604020202020204" pitchFamily="34" charset="0"/>
              <a:buChar char="•"/>
            </a:pPr>
            <a:r>
              <a:rPr lang="en-US" sz="1600" dirty="0">
                <a:solidFill>
                  <a:srgbClr val="000000"/>
                </a:solidFill>
              </a:rPr>
              <a:t>Any commitment to other generic products will automatically be linked to an expected investment in CMC (in addition to clinical activities)</a:t>
            </a:r>
            <a:r>
              <a:rPr lang="en-CH" sz="1600" dirty="0">
                <a:solidFill>
                  <a:srgbClr val="000000"/>
                </a:solidFill>
              </a:rPr>
              <a:t>, but this may be mitigated by structure (e.g. </a:t>
            </a:r>
            <a:r>
              <a:rPr lang="en-US" sz="1600" dirty="0">
                <a:solidFill>
                  <a:srgbClr val="000000"/>
                </a:solidFill>
              </a:rPr>
              <a:t>M</a:t>
            </a:r>
            <a:r>
              <a:rPr lang="en-CH" sz="1600" dirty="0" err="1">
                <a:solidFill>
                  <a:srgbClr val="000000"/>
                </a:solidFill>
              </a:rPr>
              <a:t>ilestone</a:t>
            </a:r>
            <a:r>
              <a:rPr lang="en-CH" sz="1600" dirty="0">
                <a:solidFill>
                  <a:srgbClr val="000000"/>
                </a:solidFill>
              </a:rPr>
              <a:t> prize)</a:t>
            </a:r>
            <a:endParaRPr lang="en-US" sz="1600" dirty="0">
              <a:solidFill>
                <a:srgbClr val="000000"/>
              </a:solidFill>
            </a:endParaRPr>
          </a:p>
          <a:p>
            <a:pPr marL="446088" indent="-285750">
              <a:spcBef>
                <a:spcPts val="300"/>
              </a:spcBef>
              <a:buClr>
                <a:srgbClr val="19A1AC"/>
              </a:buClr>
              <a:buFont typeface="Arial" panose="020B0604020202020204" pitchFamily="34" charset="0"/>
              <a:buChar char="•"/>
            </a:pPr>
            <a:endParaRPr lang="en-US" sz="1600" dirty="0">
              <a:solidFill>
                <a:srgbClr val="000000"/>
              </a:solidFill>
            </a:endParaRPr>
          </a:p>
          <a:p>
            <a:pPr marL="446088" indent="-285750">
              <a:spcBef>
                <a:spcPts val="300"/>
              </a:spcBef>
              <a:buClr>
                <a:srgbClr val="19A1AC"/>
              </a:buClr>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26790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9">
            <a:extLst>
              <a:ext uri="{FF2B5EF4-FFF2-40B4-BE49-F238E27FC236}">
                <a16:creationId xmlns:a16="http://schemas.microsoft.com/office/drawing/2014/main" id="{6D693A2F-197A-4944-8164-56AA507DCACA}"/>
              </a:ext>
            </a:extLst>
          </p:cNvPr>
          <p:cNvSpPr txBox="1">
            <a:spLocks/>
          </p:cNvSpPr>
          <p:nvPr/>
        </p:nvSpPr>
        <p:spPr>
          <a:xfrm>
            <a:off x="11591474" y="6528004"/>
            <a:ext cx="562915" cy="303274"/>
          </a:xfrm>
          <a:prstGeom prst="rect">
            <a:avLst/>
          </a:prstGeom>
          <a:noFill/>
          <a:ln>
            <a:noFill/>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spcFirstLastPara="1" wrap="square" lIns="45719" tIns="45719" rIns="45719" bIns="45719" anchor="t" anchorCtr="0">
            <a:noAutofit/>
          </a:bodyPr>
          <a:lstStyle>
            <a:defPPr marR="0" lvl="0" algn="l" rtl="0">
              <a:lnSpc>
                <a:spcPct val="100000"/>
              </a:lnSpc>
              <a:spcBef>
                <a:spcPts val="0"/>
              </a:spcBef>
              <a:spcAft>
                <a:spcPts val="0"/>
              </a:spcAft>
            </a:defPPr>
            <a:lvl1pPr marL="457200" marR="0" lvl="0" indent="-228600" algn="l" rtl="0" eaLnBrk="1" hangingPunct="1">
              <a:lnSpc>
                <a:spcPct val="90000"/>
              </a:lnSpc>
              <a:spcBef>
                <a:spcPts val="1000"/>
              </a:spcBef>
              <a:spcAft>
                <a:spcPts val="0"/>
              </a:spcAft>
              <a:buClr>
                <a:srgbClr val="18A1AB"/>
              </a:buClr>
              <a:buSzPts val="2400"/>
              <a:buFont typeface="Arial"/>
              <a:buNone/>
              <a:defRPr sz="1000" b="0" i="0" u="none" strike="noStrike" cap="none">
                <a:solidFill>
                  <a:srgbClr val="000000"/>
                </a:solidFill>
                <a:latin typeface="Arial"/>
                <a:ea typeface="Arial"/>
                <a:cs typeface="Arial"/>
                <a:sym typeface="Arial"/>
              </a:defRPr>
            </a:lvl1pPr>
            <a:lvl2pPr marL="914400" marR="0" lvl="1"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eaLnBrk="1" hangingPunct="1">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marL="457200" marR="0" lvl="0" indent="-228600" algn="ctr" defTabSz="914400" rtl="0" eaLnBrk="1" fontAlgn="auto" latinLnBrk="0" hangingPunct="1">
              <a:lnSpc>
                <a:spcPct val="90000"/>
              </a:lnSpc>
              <a:spcBef>
                <a:spcPts val="1000"/>
              </a:spcBef>
              <a:spcAft>
                <a:spcPts val="0"/>
              </a:spcAft>
              <a:buClr>
                <a:srgbClr val="18A1AB"/>
              </a:buClr>
              <a:buSzPts val="2400"/>
              <a:buFont typeface="Arial"/>
              <a:buNone/>
              <a:tabLst/>
              <a:defRPr/>
            </a:pPr>
            <a:fld id="{86CB4B4D-7CA3-9044-876B-883B54F8677D}" type="slidenum">
              <a:rPr kumimoji="0" lang="en-GB" sz="800" b="0" i="0" u="none" strike="noStrike" kern="0" cap="none" spc="0" normalizeH="0" baseline="0" noProof="0" smtClean="0">
                <a:ln>
                  <a:noFill/>
                </a:ln>
                <a:solidFill>
                  <a:srgbClr val="000000"/>
                </a:solidFill>
                <a:effectLst/>
                <a:uLnTx/>
                <a:uFillTx/>
                <a:latin typeface="Arial"/>
                <a:cs typeface="Arial"/>
                <a:sym typeface="Arial"/>
              </a:rPr>
              <a:pPr marL="457200" marR="0" lvl="0" indent="-228600" algn="ctr" defTabSz="914400" rtl="0" eaLnBrk="1" fontAlgn="auto" latinLnBrk="0" hangingPunct="1">
                <a:lnSpc>
                  <a:spcPct val="90000"/>
                </a:lnSpc>
                <a:spcBef>
                  <a:spcPts val="1000"/>
                </a:spcBef>
                <a:spcAft>
                  <a:spcPts val="0"/>
                </a:spcAft>
                <a:buClr>
                  <a:srgbClr val="18A1AB"/>
                </a:buClr>
                <a:buSzPts val="2400"/>
                <a:buFont typeface="Arial"/>
                <a:buNone/>
                <a:tabLst/>
                <a:defRPr/>
              </a:pPr>
              <a:t>10</a:t>
            </a:fld>
            <a:endParaRPr kumimoji="0" lang="en-GB" sz="8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 name="Straight Connector 1">
            <a:extLst>
              <a:ext uri="{FF2B5EF4-FFF2-40B4-BE49-F238E27FC236}">
                <a16:creationId xmlns:a16="http://schemas.microsoft.com/office/drawing/2014/main" id="{DA4F0FC3-A77B-B0FA-E587-9F88B0F50650}"/>
              </a:ext>
            </a:extLst>
          </p:cNvPr>
          <p:cNvCxnSpPr/>
          <p:nvPr/>
        </p:nvCxnSpPr>
        <p:spPr>
          <a:xfrm>
            <a:off x="607860" y="980168"/>
            <a:ext cx="3600000" cy="0"/>
          </a:xfrm>
          <a:prstGeom prst="line">
            <a:avLst/>
          </a:prstGeom>
          <a:ln w="19050">
            <a:solidFill>
              <a:srgbClr val="0B6377"/>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56C28AFF-9D81-D83C-E074-C66988973DCC}"/>
              </a:ext>
            </a:extLst>
          </p:cNvPr>
          <p:cNvSpPr txBox="1">
            <a:spLocks/>
          </p:cNvSpPr>
          <p:nvPr/>
        </p:nvSpPr>
        <p:spPr>
          <a:xfrm>
            <a:off x="495299" y="302897"/>
            <a:ext cx="11522530" cy="5170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eaLnBrk="1" hangingPunct="1">
              <a:lnSpc>
                <a:spcPct val="90000"/>
              </a:lnSpc>
              <a:spcBef>
                <a:spcPts val="0"/>
              </a:spcBef>
              <a:spcAft>
                <a:spcPts val="0"/>
              </a:spcAft>
              <a:buClr>
                <a:srgbClr val="0D202F"/>
              </a:buClr>
              <a:buSzPts val="3500"/>
              <a:buFont typeface="Arial"/>
              <a:buNone/>
              <a:defRPr sz="35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D202F"/>
              </a:buClr>
              <a:buSzPts val="3500"/>
              <a:buFont typeface="Arial"/>
              <a:buNone/>
              <a:tabLst/>
              <a:defRPr/>
            </a:pPr>
            <a:r>
              <a:rPr lang="en-CH" sz="3200" b="1" dirty="0">
                <a:solidFill>
                  <a:srgbClr val="0D202F"/>
                </a:solidFill>
              </a:rPr>
              <a:t>Financial </a:t>
            </a:r>
            <a:r>
              <a:rPr lang="en-CH" sz="3200" b="1" dirty="0" err="1">
                <a:solidFill>
                  <a:srgbClr val="0D202F"/>
                </a:solidFill>
              </a:rPr>
              <a:t>i</a:t>
            </a:r>
            <a:r>
              <a:rPr lang="en-GB" sz="3200" b="1" dirty="0" err="1">
                <a:solidFill>
                  <a:srgbClr val="0D202F"/>
                </a:solidFill>
              </a:rPr>
              <a:t>nvest</a:t>
            </a:r>
            <a:r>
              <a:rPr lang="en-CH" sz="3200" b="1" dirty="0" err="1">
                <a:solidFill>
                  <a:srgbClr val="0D202F"/>
                </a:solidFill>
              </a:rPr>
              <a:t>ment</a:t>
            </a:r>
            <a:r>
              <a:rPr lang="en-GB" sz="3200" b="1" dirty="0">
                <a:solidFill>
                  <a:srgbClr val="0D202F"/>
                </a:solidFill>
              </a:rPr>
              <a:t> in manufacturing of generic products</a:t>
            </a:r>
            <a:endParaRPr kumimoji="0" lang="en-GB" sz="3200" b="1" i="0" u="none" strike="noStrike" kern="0" cap="none" spc="0" normalizeH="0" baseline="0" noProof="0" dirty="0">
              <a:ln>
                <a:noFill/>
              </a:ln>
              <a:solidFill>
                <a:srgbClr val="000000"/>
              </a:solidFill>
              <a:effectLst/>
              <a:uLnTx/>
              <a:uFillTx/>
              <a:latin typeface="Arial"/>
              <a:cs typeface="Arial"/>
              <a:sym typeface="Arial"/>
            </a:endParaRPr>
          </a:p>
        </p:txBody>
      </p:sp>
      <p:sp>
        <p:nvSpPr>
          <p:cNvPr id="13" name="Rectangle 12">
            <a:extLst>
              <a:ext uri="{FF2B5EF4-FFF2-40B4-BE49-F238E27FC236}">
                <a16:creationId xmlns:a16="http://schemas.microsoft.com/office/drawing/2014/main" id="{03AB3907-B9A0-7758-C32C-F5084BE721D2}"/>
              </a:ext>
            </a:extLst>
          </p:cNvPr>
          <p:cNvSpPr/>
          <p:nvPr/>
        </p:nvSpPr>
        <p:spPr>
          <a:xfrm>
            <a:off x="1431073" y="1964766"/>
            <a:ext cx="9496007" cy="397883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68263">
              <a:spcAft>
                <a:spcPts val="600"/>
              </a:spcAft>
            </a:pPr>
            <a:r>
              <a:rPr lang="en-US" sz="1700" b="1" dirty="0">
                <a:solidFill>
                  <a:schemeClr val="tx1"/>
                </a:solidFill>
              </a:rPr>
              <a:t>Recommendations:</a:t>
            </a:r>
          </a:p>
          <a:p>
            <a:pPr marL="536575" indent="-354013">
              <a:spcAft>
                <a:spcPts val="600"/>
              </a:spcAft>
            </a:pPr>
            <a:r>
              <a:rPr lang="en-US" sz="1700" b="1" dirty="0">
                <a:solidFill>
                  <a:schemeClr val="tx1"/>
                </a:solidFill>
                <a:sym typeface="Wingdings" panose="05000000000000000000" pitchFamily="2" charset="2"/>
              </a:rPr>
              <a:t></a:t>
            </a:r>
            <a:r>
              <a:rPr lang="en-US" sz="1700" b="1" dirty="0">
                <a:solidFill>
                  <a:schemeClr val="tx1"/>
                </a:solidFill>
              </a:rPr>
              <a:t>	</a:t>
            </a:r>
            <a:r>
              <a:rPr lang="en-US" sz="1700" b="1" dirty="0" err="1">
                <a:solidFill>
                  <a:schemeClr val="tx1"/>
                </a:solidFill>
              </a:rPr>
              <a:t>Recognise</a:t>
            </a:r>
            <a:r>
              <a:rPr lang="en-US" sz="1700" b="1" dirty="0">
                <a:solidFill>
                  <a:schemeClr val="tx1"/>
                </a:solidFill>
              </a:rPr>
              <a:t> that our short-term strategy remains the implementation of activities to reassure manufacturers, perhaps list other activities, and develop the narrative to better explain the value of this list of activities for manufacturers.</a:t>
            </a:r>
          </a:p>
          <a:p>
            <a:pPr marL="536575" indent="-354013">
              <a:spcAft>
                <a:spcPts val="600"/>
              </a:spcAft>
            </a:pPr>
            <a:r>
              <a:rPr lang="en-US" sz="1700" b="1" dirty="0">
                <a:solidFill>
                  <a:schemeClr val="tx1"/>
                </a:solidFill>
                <a:sym typeface="Wingdings" panose="05000000000000000000" pitchFamily="2" charset="2"/>
              </a:rPr>
              <a:t></a:t>
            </a:r>
            <a:r>
              <a:rPr lang="en-US" sz="1700" b="1" dirty="0">
                <a:solidFill>
                  <a:schemeClr val="tx1"/>
                </a:solidFill>
              </a:rPr>
              <a:t> 	Continue the evaluation (including a risk assessment) of option B in order to present a clear and well-founded proposal to GARDP Board with 2 visions:</a:t>
            </a:r>
          </a:p>
          <a:p>
            <a:pPr marL="982663" indent="-354013">
              <a:spcAft>
                <a:spcPts val="600"/>
              </a:spcAft>
            </a:pPr>
            <a:r>
              <a:rPr lang="en-US" sz="1700" b="1" dirty="0">
                <a:solidFill>
                  <a:schemeClr val="tx1"/>
                </a:solidFill>
              </a:rPr>
              <a:t>1. 	Support manufacturers via a RFP or a milestone prizes  for specific GARDP product;</a:t>
            </a:r>
          </a:p>
          <a:p>
            <a:pPr marL="982663" indent="-354013">
              <a:spcAft>
                <a:spcPts val="600"/>
              </a:spcAft>
            </a:pPr>
            <a:r>
              <a:rPr lang="en-US" sz="1700" b="1" dirty="0">
                <a:solidFill>
                  <a:schemeClr val="tx1"/>
                </a:solidFill>
              </a:rPr>
              <a:t>2.	Develop a long-term strategic partnership with a pool of 3+ manufacturers which will have manufacturing lines dedicated to GARDP products.</a:t>
            </a:r>
          </a:p>
          <a:p>
            <a:pPr marL="536575" indent="-354013">
              <a:spcAft>
                <a:spcPts val="600"/>
              </a:spcAft>
            </a:pPr>
            <a:r>
              <a:rPr lang="en-US" sz="1700" b="1" dirty="0">
                <a:solidFill>
                  <a:schemeClr val="tx1"/>
                </a:solidFill>
                <a:sym typeface="Wingdings" panose="05000000000000000000" pitchFamily="2" charset="2"/>
              </a:rPr>
              <a:t> </a:t>
            </a:r>
            <a:r>
              <a:rPr lang="en-US" sz="1700" b="1" dirty="0">
                <a:solidFill>
                  <a:schemeClr val="tx1"/>
                </a:solidFill>
              </a:rPr>
              <a:t>	Pursue option C as a longer-term project with others (DNDi but also NPC).</a:t>
            </a:r>
          </a:p>
        </p:txBody>
      </p:sp>
    </p:spTree>
    <p:extLst>
      <p:ext uri="{BB962C8B-B14F-4D97-AF65-F5344CB8AC3E}">
        <p14:creationId xmlns:p14="http://schemas.microsoft.com/office/powerpoint/2010/main" val="2478874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4C05B1-F46C-9343-BBCC-59504C0D4C18}"/>
              </a:ext>
            </a:extLst>
          </p:cNvPr>
          <p:cNvSpPr>
            <a:spLocks noGrp="1"/>
          </p:cNvSpPr>
          <p:nvPr>
            <p:ph type="title"/>
          </p:nvPr>
        </p:nvSpPr>
        <p:spPr/>
        <p:txBody>
          <a:bodyPr/>
          <a:lstStyle/>
          <a:p>
            <a:r>
              <a:rPr lang="fr-FR" err="1"/>
              <a:t>Thank</a:t>
            </a:r>
            <a:r>
              <a:rPr lang="fr-FR"/>
              <a:t> </a:t>
            </a:r>
            <a:r>
              <a:rPr lang="fr-FR" err="1"/>
              <a:t>you</a:t>
            </a:r>
            <a:endParaRPr lang="fr-FR"/>
          </a:p>
        </p:txBody>
      </p:sp>
    </p:spTree>
    <p:extLst>
      <p:ext uri="{BB962C8B-B14F-4D97-AF65-F5344CB8AC3E}">
        <p14:creationId xmlns:p14="http://schemas.microsoft.com/office/powerpoint/2010/main" val="2496389049"/>
      </p:ext>
    </p:extLst>
  </p:cSld>
  <p:clrMapOvr>
    <a:masterClrMapping/>
  </p:clrMapOvr>
</p:sld>
</file>

<file path=ppt/theme/theme1.xml><?xml version="1.0" encoding="utf-8"?>
<a:theme xmlns:a="http://schemas.openxmlformats.org/drawingml/2006/main" name="Content slid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ank you slid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5" id="{B3B30CD6-7331-4B7D-AFE8-A38649AA41FB}" vid="{E9F5645C-7149-44B3-86AC-CA70AEACCB9C}"/>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19e73577-fcef-4466-ae90-597a33944aa2">
      <UserInfo>
        <DisplayName>Renata Da Costa</DisplayName>
        <AccountId>49</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E973A30B18AF94BAB9FEDE8FE875C67" ma:contentTypeVersion="5" ma:contentTypeDescription="Create a new document." ma:contentTypeScope="" ma:versionID="c1c7012ca6b3412361abca1c316feaaa">
  <xsd:schema xmlns:xsd="http://www.w3.org/2001/XMLSchema" xmlns:xs="http://www.w3.org/2001/XMLSchema" xmlns:p="http://schemas.microsoft.com/office/2006/metadata/properties" xmlns:ns2="7fa1e073-9ab3-4625-a6d9-04eea587a80a" xmlns:ns3="19e73577-fcef-4466-ae90-597a33944aa2" targetNamespace="http://schemas.microsoft.com/office/2006/metadata/properties" ma:root="true" ma:fieldsID="8115975a2722ce0095aa00a2a5b61cee" ns2:_="" ns3:_="">
    <xsd:import namespace="7fa1e073-9ab3-4625-a6d9-04eea587a80a"/>
    <xsd:import namespace="19e73577-fcef-4466-ae90-597a33944aa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a1e073-9ab3-4625-a6d9-04eea587a8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9e73577-fcef-4466-ae90-597a33944aa2"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A38A4C-D4E8-4CFC-9FA6-47DDD323BEDC}">
  <ds:schemaRefs>
    <ds:schemaRef ds:uri="http://schemas.microsoft.com/sharepoint/v3/contenttype/forms"/>
  </ds:schemaRefs>
</ds:datastoreItem>
</file>

<file path=customXml/itemProps2.xml><?xml version="1.0" encoding="utf-8"?>
<ds:datastoreItem xmlns:ds="http://schemas.openxmlformats.org/officeDocument/2006/customXml" ds:itemID="{DB2A02D7-C589-42E6-B672-51BA640E7E7D}">
  <ds:schemaRefs>
    <ds:schemaRef ds:uri="http://schemas.microsoft.com/office/2006/metadata/properties"/>
    <ds:schemaRef ds:uri="http://purl.org/dc/terms/"/>
    <ds:schemaRef ds:uri="http://schemas.microsoft.com/office/2006/documentManagement/types"/>
    <ds:schemaRef ds:uri="http://schemas.openxmlformats.org/package/2006/metadata/core-properties"/>
    <ds:schemaRef ds:uri="73efa35e-5ccd-4629-b4eb-fa1f36a44a8c"/>
    <ds:schemaRef ds:uri="http://purl.org/dc/elements/1.1/"/>
    <ds:schemaRef ds:uri="3b8a1486-49f0-4885-9b4e-9ff0417a6c08"/>
    <ds:schemaRef ds:uri="http://schemas.microsoft.com/office/infopath/2007/PartnerControls"/>
    <ds:schemaRef ds:uri="http://www.w3.org/XML/1998/namespace"/>
    <ds:schemaRef ds:uri="http://purl.org/dc/dcmitype/"/>
    <ds:schemaRef ds:uri="19e73577-fcef-4466-ae90-597a33944aa2"/>
  </ds:schemaRefs>
</ds:datastoreItem>
</file>

<file path=customXml/itemProps3.xml><?xml version="1.0" encoding="utf-8"?>
<ds:datastoreItem xmlns:ds="http://schemas.openxmlformats.org/officeDocument/2006/customXml" ds:itemID="{A3D6E834-C9F6-4766-9B5D-99422A43D4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fa1e073-9ab3-4625-a6d9-04eea587a80a"/>
    <ds:schemaRef ds:uri="19e73577-fcef-4466-ae90-597a33944a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102</TotalTime>
  <Words>2241</Words>
  <Application>Microsoft Macintosh PowerPoint</Application>
  <PresentationFormat>Widescreen</PresentationFormat>
  <Paragraphs>150</Paragraphs>
  <Slides>11</Slides>
  <Notes>9</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11</vt:i4>
      </vt:variant>
    </vt:vector>
  </HeadingPairs>
  <TitlesOfParts>
    <vt:vector size="16" baseType="lpstr">
      <vt:lpstr>Arial</vt:lpstr>
      <vt:lpstr>Calibri</vt:lpstr>
      <vt:lpstr>Wingdings</vt:lpstr>
      <vt:lpstr>Content slide</vt:lpstr>
      <vt:lpstr>Thank you slide</vt:lpstr>
      <vt:lpstr>Discussion on potential investment on manufacturing for GARDP portfolio drugs  (focus on generic)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presentation deck title</dc:title>
  <dc:creator>Microsoft Office User</dc:creator>
  <cp:lastModifiedBy>Paolo Sison</cp:lastModifiedBy>
  <cp:revision>122</cp:revision>
  <dcterms:created xsi:type="dcterms:W3CDTF">2020-03-16T11:11:45Z</dcterms:created>
  <dcterms:modified xsi:type="dcterms:W3CDTF">2026-04-30T09:23:31Z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0x010100EE973A30B18AF94BAB9FEDE8FE875C67</vt:lpwstr>
  </property>
  <property fmtid="{D5CDD505-2E9C-101B-9397-08002B2CF9AE}" pid="3" name="Audience1">
    <vt:lpwstr>29;#Internal|5e2c98c4-9007-4dd7-82ff-65761dc8302a</vt:lpwstr>
  </property>
  <property fmtid="{D5CDD505-2E9C-101B-9397-08002B2CF9AE}" pid="4" name="Document Type">
    <vt:lpwstr>21;#Template|6c9134d5-582e-47d0-b828-18e0cad66710</vt:lpwstr>
  </property>
  <property fmtid="{D5CDD505-2E9C-101B-9397-08002B2CF9AE}" pid="5" name="SharedWithUsers">
    <vt:lpwstr>49;#Renata Da Costa</vt:lpwstr>
  </property>
  <property fmtid="{D5CDD505-2E9C-101B-9397-08002B2CF9AE}" pid="6" name="MediaServiceImageTags">
    <vt:lpwstr/>
  </property>
</Properties>
</file>